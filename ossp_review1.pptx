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88825" cy="6858000"/>
  <p:notesSz cx="6858000" cy="12188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Rao" userId="cad3a9c905ff371f" providerId="LiveId" clId="{864BD4EE-0617-4AE4-B194-8AF962BB8EC7}"/>
    <pc:docChg chg="modSld">
      <pc:chgData name="Nikki Rao" userId="cad3a9c905ff371f" providerId="LiveId" clId="{864BD4EE-0617-4AE4-B194-8AF962BB8EC7}" dt="2026-08-18T14:16:32.387" v="0" actId="1076"/>
      <pc:docMkLst>
        <pc:docMk/>
      </pc:docMkLst>
      <pc:sldChg chg="modSp mod">
        <pc:chgData name="Nikki Rao" userId="cad3a9c905ff371f" providerId="LiveId" clId="{864BD4EE-0617-4AE4-B194-8AF962BB8EC7}" dt="2026-08-18T14:16:32.387" v="0" actId="1076"/>
        <pc:sldMkLst>
          <pc:docMk/>
          <pc:sldMk cId="0" sldId="261"/>
        </pc:sldMkLst>
        <pc:spChg chg="mod">
          <ac:chgData name="Nikki Rao" userId="cad3a9c905ff371f" providerId="LiveId" clId="{864BD4EE-0617-4AE4-B194-8AF962BB8EC7}" dt="2026-08-18T14:16:32.387" v="0" actId="1076"/>
          <ac:spMkLst>
            <pc:docMk/>
            <pc:sldMk cId="0" sldId="261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49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25" y="1"/>
            <a:ext cx="12216250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620" y="1820487"/>
            <a:ext cx="479935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799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3621" y="4714821"/>
            <a:ext cx="3829876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3620" y="219456"/>
            <a:ext cx="270307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3035" y="219456"/>
            <a:ext cx="14949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954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5052" y="214858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54990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11899"/>
            <a:ext cx="12188826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3" y="459254"/>
            <a:ext cx="5656994" cy="2691359"/>
          </a:xfrm>
        </p:spPr>
        <p:txBody>
          <a:bodyPr/>
          <a:lstStyle>
            <a:lvl1pPr>
              <a:defRPr sz="4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0347" y="516600"/>
            <a:ext cx="2593139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0348" y="219456"/>
            <a:ext cx="250339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0502" y="219456"/>
            <a:ext cx="1146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219456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111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577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4"/>
            <a:ext cx="12185778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9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8807" y="4463844"/>
            <a:ext cx="3386971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542" y="219456"/>
            <a:ext cx="2739902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3786" y="219456"/>
            <a:ext cx="195748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9237" y="219456"/>
            <a:ext cx="44868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030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7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74" y="4311805"/>
            <a:ext cx="8583101" cy="2368300"/>
          </a:xfrm>
        </p:spPr>
        <p:txBody>
          <a:bodyPr anchor="b">
            <a:normAutofit/>
          </a:bodyPr>
          <a:lstStyle>
            <a:lvl1pPr>
              <a:defRPr sz="689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19456"/>
            <a:ext cx="26554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9456"/>
            <a:ext cx="19127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8" y="219456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005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88825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72" y="2138777"/>
            <a:ext cx="6431591" cy="1962149"/>
          </a:xfrm>
        </p:spPr>
        <p:txBody>
          <a:bodyPr anchor="t">
            <a:normAutofit/>
          </a:bodyPr>
          <a:lstStyle>
            <a:lvl1pPr>
              <a:defRPr sz="8797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385" y="214858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1386" y="2138776"/>
            <a:ext cx="3717452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063" indent="-457063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329" indent="-342797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799860" indent="-342797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1186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79" y="2555751"/>
            <a:ext cx="12188825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50" y="3481713"/>
            <a:ext cx="5494995" cy="2092272"/>
          </a:xfrm>
        </p:spPr>
        <p:txBody>
          <a:bodyPr anchor="t">
            <a:normAutofit/>
          </a:bodyPr>
          <a:lstStyle>
            <a:lvl1pPr>
              <a:defRPr sz="75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88825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547" y="2734068"/>
            <a:ext cx="272662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3540" y="2734068"/>
            <a:ext cx="158629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67" y="2734068"/>
            <a:ext cx="5265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3540" y="3481714"/>
            <a:ext cx="3915083" cy="2765887"/>
          </a:xfrm>
        </p:spPr>
        <p:txBody>
          <a:bodyPr vert="horz" lIns="91440" tIns="45720" rIns="91440" bIns="45720" rtlCol="0">
            <a:normAutofit/>
          </a:bodyPr>
          <a:lstStyle>
            <a:lvl1pPr marL="342797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329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799860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531" lvl="0" indent="-228531"/>
            <a:r>
              <a:rPr lang="en-US"/>
              <a:t>Click to edit Master text styles</a:t>
            </a:r>
          </a:p>
          <a:p>
            <a:pPr marL="228531" lvl="1" indent="-228531"/>
            <a:r>
              <a:rPr lang="en-US"/>
              <a:t>Second level</a:t>
            </a:r>
          </a:p>
          <a:p>
            <a:pPr marL="228531" lvl="2" indent="-228531"/>
            <a:r>
              <a:rPr lang="en-US"/>
              <a:t>Third level</a:t>
            </a:r>
          </a:p>
          <a:p>
            <a:pPr marL="228531" lvl="3" indent="-228531"/>
            <a:r>
              <a:rPr lang="en-US"/>
              <a:t>Fourth level</a:t>
            </a:r>
          </a:p>
          <a:p>
            <a:pPr marL="228531" lvl="4" indent="-228531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1820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2954" y="1"/>
            <a:ext cx="58797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43" y="1276990"/>
            <a:ext cx="5376866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72566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4133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355" y="214858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66" y="2471736"/>
            <a:ext cx="5376867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86226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1619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414" y="1886712"/>
            <a:ext cx="3507075" cy="3233928"/>
          </a:xfrm>
        </p:spPr>
        <p:txBody>
          <a:bodyPr anchor="t">
            <a:normAutofit/>
          </a:bodyPr>
          <a:lstStyle>
            <a:lvl1pPr>
              <a:defRPr sz="31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08394"/>
            <a:ext cx="25314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5872" y="208394"/>
            <a:ext cx="201702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646" y="208394"/>
            <a:ext cx="55301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5873" y="1886712"/>
            <a:ext cx="4494629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822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4" y="1115568"/>
            <a:ext cx="2504612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9456"/>
            <a:ext cx="2683349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3185" y="215823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5300" y="215823"/>
            <a:ext cx="549129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324" y="3028523"/>
            <a:ext cx="2504612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3185" y="1181100"/>
            <a:ext cx="8815640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06116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8"/>
            <a:ext cx="3999458" cy="1352516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19456"/>
            <a:ext cx="272722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6636" y="219456"/>
            <a:ext cx="1747319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008" y="216280"/>
            <a:ext cx="550969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636" y="1104900"/>
            <a:ext cx="6923199" cy="1352516"/>
          </a:xfrm>
        </p:spPr>
        <p:txBody>
          <a:bodyPr>
            <a:normAutofit/>
          </a:bodyPr>
          <a:lstStyle>
            <a:lvl1pPr marL="285664" indent="-285664">
              <a:buFont typeface="Arial" panose="020B0604020202020204" pitchFamily="34" charset="0"/>
              <a:buNone/>
              <a:defRPr sz="1400"/>
            </a:lvl1pPr>
            <a:lvl2pPr marL="514196" indent="-285664">
              <a:buFont typeface="Arial" panose="020B0604020202020204" pitchFamily="34" charset="0"/>
              <a:buNone/>
              <a:defRPr sz="1400"/>
            </a:lvl2pPr>
            <a:lvl3pPr marL="742727" indent="-285664">
              <a:buFont typeface="Arial" panose="020B0604020202020204" pitchFamily="34" charset="0"/>
              <a:buNone/>
              <a:defRPr sz="1400"/>
            </a:lvl3pPr>
            <a:lvl4pPr marL="856993" indent="-171399">
              <a:buFont typeface="Arial" panose="020B0604020202020204" pitchFamily="34" charset="0"/>
              <a:buNone/>
              <a:defRPr sz="1400"/>
            </a:lvl4pPr>
            <a:lvl5pPr marL="1085524" indent="-171399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10"/>
            <a:ext cx="12188825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033132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9"/>
            <a:ext cx="2513945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5139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2856" y="1"/>
            <a:ext cx="8765970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1927" y="4077628"/>
            <a:ext cx="19197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4077628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1927" y="4423576"/>
            <a:ext cx="8417907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777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808" y="1115569"/>
            <a:ext cx="5246210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9456"/>
            <a:ext cx="293293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5043" y="209088"/>
            <a:ext cx="184356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234" y="209088"/>
            <a:ext cx="55580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181100"/>
            <a:ext cx="5246210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9808" y="2133600"/>
            <a:ext cx="5246210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6778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46" y="1115569"/>
            <a:ext cx="3606731" cy="3170545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4858"/>
            <a:ext cx="25964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4647" y="214858"/>
            <a:ext cx="1586298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668" y="214858"/>
            <a:ext cx="55580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4648" y="1112672"/>
            <a:ext cx="6925187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400"/>
            </a:lvl3pPr>
            <a:lvl4pPr marL="685594" indent="0">
              <a:buFont typeface="Arial" panose="020B0604020202020204" pitchFamily="34" charset="0"/>
              <a:buNone/>
              <a:defRPr sz="1400"/>
            </a:lvl4pPr>
            <a:lvl5pPr marL="914126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1803" y="3500204"/>
            <a:ext cx="7287023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42249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1" y="3429001"/>
            <a:ext cx="2500656" cy="2551982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12188825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865290"/>
            <a:ext cx="272566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1926" y="2865290"/>
            <a:ext cx="1966833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2865290"/>
            <a:ext cx="55580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1927" y="3429000"/>
            <a:ext cx="8208066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400"/>
            </a:lvl3pPr>
            <a:lvl4pPr marL="685594" indent="0">
              <a:buFont typeface="Arial" panose="020B0604020202020204" pitchFamily="34" charset="0"/>
              <a:buNone/>
              <a:defRPr sz="1400"/>
            </a:lvl4pPr>
            <a:lvl5pPr marL="914126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096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14" y="1115568"/>
            <a:ext cx="3602318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7440" y="209088"/>
            <a:ext cx="2513945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3080" y="219456"/>
            <a:ext cx="56419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114" y="2705100"/>
            <a:ext cx="3602318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3984" y="1175658"/>
            <a:ext cx="725484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866743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4607626"/>
            <a:ext cx="4418449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1"/>
            <a:ext cx="483552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39832" y="209088"/>
            <a:ext cx="272566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0475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9833" y="1104900"/>
            <a:ext cx="5748884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2515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2" y="1115568"/>
            <a:ext cx="3104526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72566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4466" y="214858"/>
            <a:ext cx="2536327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8/18/2026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899" y="214858"/>
            <a:ext cx="55580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01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4466" y="1104902"/>
            <a:ext cx="7474624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092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88825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376" y="5082379"/>
            <a:ext cx="3999458" cy="1169230"/>
          </a:xfrm>
        </p:spPr>
        <p:txBody>
          <a:bodyPr anchor="b">
            <a:normAutofit/>
          </a:bodyPr>
          <a:lstStyle>
            <a:lvl1pPr>
              <a:defRPr sz="1999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0376" y="209088"/>
            <a:ext cx="19701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15" y="1063626"/>
            <a:ext cx="10425571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5992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9859534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12188825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133856"/>
            <a:ext cx="10649986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8990" y="2885607"/>
            <a:ext cx="8798809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5998" b="0" spc="-50" baseline="0">
                <a:solidFill>
                  <a:schemeClr val="tx1"/>
                </a:solidFill>
              </a:defRPr>
            </a:lvl1pPr>
            <a:lvl2pPr marL="228531" indent="0">
              <a:lnSpc>
                <a:spcPct val="85000"/>
              </a:lnSpc>
              <a:buNone/>
              <a:defRPr sz="4399" b="0" spc="-50" baseline="0">
                <a:solidFill>
                  <a:schemeClr val="tx1"/>
                </a:solidFill>
              </a:defRPr>
            </a:lvl2pPr>
            <a:lvl3pPr marL="457063" indent="0">
              <a:lnSpc>
                <a:spcPct val="85000"/>
              </a:lnSpc>
              <a:buNone/>
              <a:defRPr sz="3999" b="0" spc="-50" baseline="0">
                <a:solidFill>
                  <a:schemeClr val="tx1"/>
                </a:solidFill>
              </a:defRPr>
            </a:lvl3pPr>
            <a:lvl4pPr marL="685594" indent="0">
              <a:lnSpc>
                <a:spcPct val="85000"/>
              </a:lnSpc>
              <a:buNone/>
              <a:defRPr sz="3599" b="0" spc="-50" baseline="0">
                <a:solidFill>
                  <a:schemeClr val="tx1"/>
                </a:solidFill>
              </a:defRPr>
            </a:lvl4pPr>
            <a:lvl5pPr marL="914126" indent="0">
              <a:lnSpc>
                <a:spcPct val="85000"/>
              </a:lnSpc>
              <a:buNone/>
              <a:defRPr sz="3199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889345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88825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413" y="4874219"/>
            <a:ext cx="8504352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413" y="1856096"/>
            <a:ext cx="8504352" cy="2855388"/>
          </a:xfrm>
        </p:spPr>
        <p:txBody>
          <a:bodyPr anchor="ctr">
            <a:normAutofit/>
          </a:bodyPr>
          <a:lstStyle>
            <a:lvl1pPr marL="164543" indent="-164543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999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7873000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9"/>
            <a:ext cx="8379817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688" y="1900238"/>
            <a:ext cx="4923143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7293" y="1900238"/>
            <a:ext cx="4923143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497995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47" y="932098"/>
            <a:ext cx="10832717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19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546" y="1675614"/>
            <a:ext cx="491263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688" y="2285022"/>
            <a:ext cx="4899497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863" y="1675614"/>
            <a:ext cx="496640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7766" y="2285022"/>
            <a:ext cx="4981464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0979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1113511"/>
            <a:ext cx="8378127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3037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2931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1" y="758952"/>
            <a:ext cx="7607686" cy="1734866"/>
          </a:xfrm>
        </p:spPr>
        <p:txBody>
          <a:bodyPr anchor="t">
            <a:noAutofit/>
          </a:bodyPr>
          <a:lstStyle>
            <a:lvl1pPr>
              <a:defRPr sz="71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91" y="2705101"/>
            <a:ext cx="8798808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966691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2704772"/>
            <a:ext cx="5464237" cy="2733384"/>
          </a:xfrm>
        </p:spPr>
        <p:txBody>
          <a:bodyPr/>
          <a:lstStyle>
            <a:lvl1pPr>
              <a:defRPr sz="71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3908" y="2705100"/>
            <a:ext cx="4408927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1485388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78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1113511"/>
            <a:ext cx="9939820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06" y="2133600"/>
            <a:ext cx="9939820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280" y="214858"/>
            <a:ext cx="272566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98808" y="214858"/>
            <a:ext cx="19197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717" y="214858"/>
            <a:ext cx="555803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94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2999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1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3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594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26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" y="594360"/>
            <a:ext cx="10725912" cy="21031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7772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FileMaster: Linux File Management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Operating System and System Programming (OSSP)  |  Project Review - 1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2120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08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520440"/>
            <a:ext cx="4663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576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2510030306-</a:t>
            </a:r>
            <a:r>
              <a:rPr lang="en-US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KATNA ABHINESHWAR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2510030246-MALLALA SRI CHARAN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2510030412-JOGU AKHIL SAGAR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2510030298-K.ABHILASH GOUD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45352" y="2935411"/>
            <a:ext cx="52120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19672" y="3108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&amp; GUIDE DETAILS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19672" y="3520440"/>
            <a:ext cx="4663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36576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Guide: Dr P. Pavan Kumar
</a:t>
            </a:r>
            <a:r>
              <a:rPr lang="en-US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Department: CSE
</a:t>
            </a:r>
            <a:r>
              <a:rPr lang="en-US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Institution: KL University
</a:t>
            </a:r>
            <a:r>
              <a:rPr lang="en-US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Year: </a:t>
            </a:r>
            <a:r>
              <a:rPr lang="en-US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045" y="635076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725912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61872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provides powerful file management commands, but users need to remember multiple commands and complex syntax for performing basic operations. Beginners often face significant friction and errors.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5212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Complex Command-Line Operations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terminal commands require memorizing strict syntax rules, flags, and path arguments.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47288"/>
            <a:ext cx="5212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38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Difficulty Remembering Commands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cognitive load for non-expert users trying to retain numerous Linux commands (chmod, cp, mv, find, tar).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745736"/>
            <a:ext cx="5212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371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Time-Consuming Manual File Handling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515721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Executing sequential file tasks manually via terminal typing reduces operational productivity.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5352" y="2148840"/>
            <a:ext cx="5212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Increased Chances of Command Errors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8232" y="2560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Typographical mistakes in syntax or path arguments can cause execution failures or accidental data loss.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5352" y="3447288"/>
            <a:ext cx="5212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538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Lack of Simple Menu Interface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385876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 centralized, menu-driven interface makes basic OS file management intimidating.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4745736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4846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Mission Statement: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8232" y="5166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aims to simplify Linux file management through a user-friendly, menu-driven C application running on Ubuntu Linux.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Linux 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 Linux-based file management application tailored for standard terminal user environments.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2344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4173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4032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Menu-Driven Interface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14032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structured, menu-driven interface to eliminate manual command-line typing friction.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Efficient Operations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3375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file and directory operations rapidly and efficiently with minimal user input.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28346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30175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14032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System Calls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14032" y="33375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low-level Linux POSIX system calls (open, read, write, creat, mkdir, chmod).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6177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Permissions &amp; Info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00200" y="49377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seamless inspection of file metadata and simple management of access permissions.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443484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8232" y="4617720"/>
            <a:ext cx="548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14032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OS Knowledge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14032" y="49377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practical understanding of core Operating System and System Programming concepts.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 &amp; Limitations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725912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Method: Linux users mainly depend on manual terminal commands for file management operations.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521208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TERMINAL COMMANDS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51760"/>
            <a:ext cx="4663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8892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Creating Files &amp; Folders:
</a:t>
            </a: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touch file.txt ; mkdir folder_name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Copying &amp; Moving Files:
</a:t>
            </a: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cp /path/src /path/dest ; mv old.txt new.txt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Managing Access Permissions:
</a:t>
            </a: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chmod 755 script.sh ; chown user:group file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Searching Files:
</a:t>
            </a: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find /home -name "*.txt" -type 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103120"/>
            <a:ext cx="521208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LIMITATIONS OF EXISTING SYSTEM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19672" y="2651760"/>
            <a:ext cx="46634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78892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Knowledge of Many Commands:
</a:t>
            </a: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Users must learn and memorize dozens of syntax structures.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Difficult for Beginners:
</a:t>
            </a: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High barrier to entry for non-technical or novice users.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Frequent Syntax &amp; Argument Errors:
</a:t>
            </a: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Typographical mistakes lead to command failures or loss.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Centralized Interface:
</a:t>
            </a: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Operations are fragmented across disconnected terminal commands.
</a:t>
            </a:r>
            <a:r>
              <a:rPr lang="en-US" sz="1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Time-Consuming &amp; Repetitive:
</a:t>
            </a: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Manual path typing for multi-step tasks reduces speed.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725912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FileMaster provides a simple menu-driven interface for performing Linux file management operations effortlessly.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Create Files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Delete Files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Rename Files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23960" y="205740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Copy &amp; Move 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Search Files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29000" y="256032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Manage Folders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256032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View Details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3960" y="2560320"/>
            <a:ext cx="246888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Change Permissions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32004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Working Flow Architecture: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Selects menu option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41605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5603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6060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Interface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6060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Parses selected choice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96512" y="41605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3891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4348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Operation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4348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parameters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25312" y="41605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2179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2636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Calls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2636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POSIX API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54112" y="41605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80467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0924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File System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0924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Interacts with Inodes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582912" y="41605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9875520" y="3611880"/>
            <a:ext cx="1536192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75520" y="3611880"/>
            <a:ext cx="153619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75520" y="361188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921240" y="40233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Result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9921240" y="45720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 status to user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Modules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264408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3264408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3444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File Operations Module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2898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Create File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Delete File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Rename File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Copy File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Move File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62272" y="1234440"/>
            <a:ext cx="3264408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234440"/>
            <a:ext cx="3264408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23444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Directory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1783080"/>
            <a:ext cx="2898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Create Folder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Delete Folder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List Files &amp; Subfolders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234440"/>
            <a:ext cx="3264408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1234440"/>
            <a:ext cx="3264408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23444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File Information Module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75904" y="1783080"/>
            <a:ext cx="2898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View File Details (size, date)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Display File Properties &amp; Inode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96896" y="3703320"/>
            <a:ext cx="3264408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96896" y="3703320"/>
            <a:ext cx="3264408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96896" y="370332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Permission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79776" y="4251960"/>
            <a:ext cx="2898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Change File Permissions (chmod)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Modify Access Flags (r/w/x)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38485" y="3703320"/>
            <a:ext cx="3264408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3703320"/>
            <a:ext cx="3264408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70332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Search Module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251960"/>
            <a:ext cx="2898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Search Files by Name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is built using core Linux environment tools and standard POSIX system call APIs: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849580"/>
              </p:ext>
            </p:extLst>
          </p:nvPr>
        </p:nvGraphicFramePr>
        <p:xfrm>
          <a:off x="731520" y="1645919"/>
          <a:ext cx="10725912" cy="36161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Functionality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System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/ Ubuntu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OS environment for executing system calls and managing VFS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Programming Language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Language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Provides direct memory control and low-level POSIX kernel bindings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GCC (GNU Compiler Collection)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Compiles and links C source code into executable Linux binaries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Layered Architecture: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600200"/>
            <a:ext cx="816559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6002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60020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End User interacting with Terminal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21305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2350008"/>
            <a:ext cx="8165592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3500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Driven 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3500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Parses choices &amp; handles input options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880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3099816"/>
            <a:ext cx="816559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0998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Management Modules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09981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File, Directory, Info, Permission &amp; Search modules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3630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0" y="3849624"/>
            <a:ext cx="8165592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8496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System Calls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84962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POSIX System APIs (open, read, write, mkdir, chmod, stat)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43799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4599432"/>
            <a:ext cx="816559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459943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Kernel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459943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Virtual File System (VFS) &amp; Process Control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51297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5349240"/>
            <a:ext cx="8165592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5349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File System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534924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Storage Media Inodes &amp; Disk Data Blocks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Output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725912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61872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will significantly reduce dependency on complex Linux commands by delivering a robust menu-driven file manager.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0725912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945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Functional Linux Application: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C-based menu-driven file management tool running seamlessly on Ubuntu Linux.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0725912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175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Simple Menu-Driven Operations: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terminal command complexity behind clear, interactive menu choices.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0725912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404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Efficient File &amp; Directory Handling: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execution of core file tasks (create, delete, rename, copy, move, list) without manual typing.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725912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634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File Permission Management: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and easy modification of file permissions and metadata inspection.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349240"/>
            <a:ext cx="10725912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486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Enhanced OS Systems Programming Knowledge: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understanding of Linux system calls, Virtual File Systems, and process execution.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Timeline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072591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30936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635508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24688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&amp; Study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19202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Requirement analysis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Study Linux file system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Finalize feature specs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83864" y="1371600"/>
            <a:ext cx="24688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371600"/>
            <a:ext cx="24688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75304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&amp; Core Dev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58184" y="2560320"/>
            <a:ext cx="19202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 architecture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 basic file ops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menu interface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1371600"/>
            <a:ext cx="24688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371600"/>
            <a:ext cx="24688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7648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Directory &amp; Security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10528" y="2560320"/>
            <a:ext cx="19202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 directory ops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 permission management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 file search module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88552" y="1371600"/>
            <a:ext cx="24688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8552" y="1371600"/>
            <a:ext cx="24688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8552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79992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Presentation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62872" y="2560320"/>
            <a:ext cx="19202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5712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Testing &amp; debugging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Project documentation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presentation prep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1131</Words>
  <Application>Microsoft Office PowerPoint</Application>
  <PresentationFormat>Custom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Neue Haas Grotesk Text Pro</vt:lpstr>
      <vt:lpstr>Segoe UI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FileMaster: Linux File Management System - OSSP Review-1</dc:title>
  <dc:subject>PptxGenJS Presentation</dc:subject>
  <dc:creator>OSSP Project Team</dc:creator>
  <cp:lastModifiedBy>Nikki Rao</cp:lastModifiedBy>
  <cp:revision>5</cp:revision>
  <dcterms:created xsi:type="dcterms:W3CDTF">2026-08-04T13:42:35Z</dcterms:created>
  <dcterms:modified xsi:type="dcterms:W3CDTF">2026-08-18T14:17:36Z</dcterms:modified>
</cp:coreProperties>
</file>