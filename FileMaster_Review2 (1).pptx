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6643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— REVIEW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FileMaster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Linux File Management System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017520" cy="0"/>
          </a:xfrm>
          <a:prstGeom prst="line">
            <a:avLst/>
          </a:prstGeom>
          <a:noFill/>
          <a:ln w="12700">
            <a:solidFill>
              <a:srgbClr val="3E53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944368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2510030306 – Katna Abhineshwar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2510030246 -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Mallala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Sri Charan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2510030412 – Akhil Sagar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2510030290 – Abhilash Goud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highlight>
                  <a:srgbClr val="C0C0C0"/>
                </a:highlight>
              </a:rPr>
              <a:t>Dr. Pavan Kumar Pagadala</a:t>
            </a:r>
          </a:p>
        </p:txBody>
      </p:sp>
      <p:sp>
        <p:nvSpPr>
          <p:cNvPr id="13" name="Text 11"/>
          <p:cNvSpPr/>
          <p:nvPr/>
        </p:nvSpPr>
        <p:spPr>
          <a:xfrm>
            <a:off x="4572000" y="502920"/>
            <a:ext cx="7178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65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822960"/>
            <a:ext cx="7178040" cy="1965960"/>
          </a:xfrm>
          <a:prstGeom prst="roundRect">
            <a:avLst>
              <a:gd name="adj" fmla="val 4186"/>
            </a:avLst>
          </a:prstGeom>
          <a:solidFill>
            <a:srgbClr val="F4F6F9"/>
          </a:solidFill>
          <a:ln w="12700">
            <a:solidFill>
              <a:srgbClr val="D6DCE5"/>
            </a:solidFill>
            <a:prstDash val="solid"/>
          </a:ln>
          <a:effectLst>
            <a:outerShdw blurRad="76200" dist="25400" dir="5400000" algn="bl" rotWithShape="0">
              <a:srgbClr val="9AA7B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960120"/>
            <a:ext cx="6629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management requires knowledge of multiple commands.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find directory navigation and path handling difficult.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operations require different, unrelated commands.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information and permissions require additional commands.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simple interface exists to demonstrate these operations.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0" y="3017520"/>
            <a:ext cx="7178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65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3337560"/>
            <a:ext cx="7178040" cy="1417320"/>
          </a:xfrm>
          <a:prstGeom prst="roundRect">
            <a:avLst>
              <a:gd name="adj" fmla="val 5806"/>
            </a:avLst>
          </a:prstGeom>
          <a:solidFill>
            <a:schemeClr val="bg1"/>
          </a:solidFill>
          <a:ln w="12700">
            <a:solidFill>
              <a:srgbClr val="D6DCE5"/>
            </a:solidFill>
            <a:prstDash val="solid"/>
          </a:ln>
          <a:effectLst>
            <a:outerShdw blurRad="76200" dist="25400" dir="5400000" algn="bl" rotWithShape="0">
              <a:srgbClr val="9AA7B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3337560"/>
            <a:ext cx="6537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develop a simple Linux-based file management system that provides common file and directory operations through one unified interface.</a:t>
            </a:r>
            <a:endParaRPr lang="en-US" sz="15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0" y="4956048"/>
            <a:ext cx="7178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5358384"/>
            <a:ext cx="1588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35090" y="5358384"/>
            <a:ext cx="1588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161270" y="5358384"/>
            <a:ext cx="1588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· REVIEW 2 · FILEMASTER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Research Approaches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AREAS COVERED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Operations — creation, reading, writing and manipulation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&amp; Namespace Management — navigation and organization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Scalability — handling large numbers of files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&amp; Permissions — file information, ownership, access control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Recovery — consistency, crash recovery, safe operations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STUDIED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329184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3840480"/>
            <a:ext cx="3145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3840480"/>
            <a:ext cx="210312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22192" y="3840480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/ Venue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3840480"/>
            <a:ext cx="5879592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25312" y="3840480"/>
            <a:ext cx="5733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24528"/>
            <a:ext cx="3291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4224528"/>
            <a:ext cx="3145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SquirrelFS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49040" y="4224528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22192" y="4224528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OSDI 2024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52160" y="4224528"/>
            <a:ext cx="587959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25312" y="4224528"/>
            <a:ext cx="5733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consistency for persistent-memory file systems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3291840" cy="438912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4663440"/>
            <a:ext cx="3145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BfFS (Billion-files FS)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49040" y="4663440"/>
            <a:ext cx="2103120" cy="438912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22192" y="4663440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2024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52160" y="4663440"/>
            <a:ext cx="5879592" cy="438912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25312" y="4663440"/>
            <a:ext cx="5733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file systems and file operations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5102352"/>
            <a:ext cx="3291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5102352"/>
            <a:ext cx="3145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WOLVES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749040" y="5102352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22192" y="5102352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OSDI 2025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52160" y="5102352"/>
            <a:ext cx="587959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25312" y="5102352"/>
            <a:ext cx="5733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write-once model, crash consistency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5541264"/>
            <a:ext cx="3291840" cy="438912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5541264"/>
            <a:ext cx="3145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F2FSJ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749040" y="5541264"/>
            <a:ext cx="2103120" cy="438912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22192" y="5541264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OSDI 2025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852160" y="5541264"/>
            <a:ext cx="5879592" cy="438912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25312" y="5541264"/>
            <a:ext cx="5733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Journaling and fine-grained crash recovery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5980176"/>
            <a:ext cx="3291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5980176"/>
            <a:ext cx="3145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Study of Linux FS Evolution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749040" y="5980176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22192" y="5980176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2013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852160" y="5980176"/>
            <a:ext cx="587959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25312" y="5980176"/>
            <a:ext cx="5733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file/directory operations, code evolution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FileMaster — OSSP Review 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91672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from the Literature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210312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143000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143000"/>
            <a:ext cx="502920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33472" y="1143000"/>
            <a:ext cx="4882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89520" y="1143000"/>
            <a:ext cx="4142232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62672" y="1143000"/>
            <a:ext cx="3995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FileMaster Connection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27048"/>
            <a:ext cx="2103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527048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SquirrelFS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1527048"/>
            <a:ext cx="5029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1527048"/>
            <a:ext cx="4882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operations should maintain a consistent state during failures.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89520" y="1527048"/>
            <a:ext cx="414223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62672" y="1527048"/>
            <a:ext cx="3995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Delete, Copy, Move, Rename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304288"/>
            <a:ext cx="2103120" cy="777240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304288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0" y="2304288"/>
            <a:ext cx="5029200" cy="777240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33472" y="2304288"/>
            <a:ext cx="4882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creation, access and organization become challenging as file count increases.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89520" y="2304288"/>
            <a:ext cx="4142232" cy="777240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62672" y="2304288"/>
            <a:ext cx="3995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Files, Search Files, Tree View, Navigation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81528"/>
            <a:ext cx="2103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081528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WOLVES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0" y="3081528"/>
            <a:ext cx="5029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33472" y="3081528"/>
            <a:ext cx="4882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consistency is important for reliable filesystem operations.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89520" y="3081528"/>
            <a:ext cx="414223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62672" y="3081528"/>
            <a:ext cx="3995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File Information, Recent Files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858768"/>
            <a:ext cx="2103120" cy="777240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3858768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F2FSJ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0" y="3858768"/>
            <a:ext cx="5029200" cy="777240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33472" y="3858768"/>
            <a:ext cx="4882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recovery mechanisms help protect filesystem state.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89520" y="3858768"/>
            <a:ext cx="4142232" cy="777240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62672" y="3858768"/>
            <a:ext cx="3995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and directory operations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956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LEARNING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5257800"/>
            <a:ext cx="11274552" cy="731520"/>
          </a:xfrm>
          <a:prstGeom prst="rect">
            <a:avLst/>
          </a:prstGeom>
          <a:solidFill>
            <a:srgbClr val="EDEFF3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52578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Operations  +  Scalability  +  Metadata  +  Reliability  +  Recovery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FileMaster — OSSP Review 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91672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Analysis &amp; Synthesis of Literature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1737360" cy="438912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143000"/>
            <a:ext cx="15910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94560" y="1143000"/>
            <a:ext cx="2468880" cy="438912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67712" y="1143000"/>
            <a:ext cx="23225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Solves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2331720" cy="438912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1143000"/>
            <a:ext cx="2185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95160" y="1143000"/>
            <a:ext cx="2148840" cy="438912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68312" y="1143000"/>
            <a:ext cx="2002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0" y="1143000"/>
            <a:ext cx="2468880" cy="438912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17152" y="1143000"/>
            <a:ext cx="23225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FileMaster Connection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1581912"/>
            <a:ext cx="1737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581912"/>
            <a:ext cx="15910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SquirrelFS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94560" y="1581912"/>
            <a:ext cx="24688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67712" y="1581912"/>
            <a:ext cx="23225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consistency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581912"/>
            <a:ext cx="2331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1581912"/>
            <a:ext cx="21854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reliability guarantees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95160" y="1581912"/>
            <a:ext cx="21488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68312" y="1581912"/>
            <a:ext cx="20025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filesystem focus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44000" y="1581912"/>
            <a:ext cx="24688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17152" y="1581912"/>
            <a:ext cx="23225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file operations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203704"/>
            <a:ext cx="1737360" cy="621792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203704"/>
            <a:ext cx="15910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194560" y="2203704"/>
            <a:ext cx="2468880" cy="621792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67712" y="2203704"/>
            <a:ext cx="23225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file workloads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2203704"/>
            <a:ext cx="2331720" cy="621792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2203704"/>
            <a:ext cx="21854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scalability analysis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995160" y="2203704"/>
            <a:ext cx="2148840" cy="621792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68312" y="2203704"/>
            <a:ext cx="20025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Large-scale-only focus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44000" y="2203704"/>
            <a:ext cx="2468880" cy="621792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17152" y="2203704"/>
            <a:ext cx="23225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/ Search / Tree View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2825496"/>
            <a:ext cx="1737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2825496"/>
            <a:ext cx="15910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WOLVES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194560" y="2825496"/>
            <a:ext cx="24688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67712" y="2825496"/>
            <a:ext cx="23225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write-once consistency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2825496"/>
            <a:ext cx="2331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2825496"/>
            <a:ext cx="21854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synchronous recovery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995160" y="2825496"/>
            <a:ext cx="21488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68312" y="2825496"/>
            <a:ext cx="20025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PM-specific implementation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144000" y="2825496"/>
            <a:ext cx="24688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17152" y="2825496"/>
            <a:ext cx="23225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information handling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3447288"/>
            <a:ext cx="1737360" cy="621792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3447288"/>
            <a:ext cx="15910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F2FSJ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194560" y="3447288"/>
            <a:ext cx="2468880" cy="621792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67712" y="3447288"/>
            <a:ext cx="23225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recovery via journaling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63440" y="3447288"/>
            <a:ext cx="2331720" cy="621792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6592" y="3447288"/>
            <a:ext cx="21854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Fine-grained, low-latency recovery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995160" y="3447288"/>
            <a:ext cx="2148840" cy="621792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68312" y="3447288"/>
            <a:ext cx="20025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F2FS-specific design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144000" y="3447288"/>
            <a:ext cx="2468880" cy="621792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17152" y="3447288"/>
            <a:ext cx="23225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file/dir operations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57200" y="4069080"/>
            <a:ext cx="1737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" y="4069080"/>
            <a:ext cx="15910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5 (Lu et al.)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194560" y="4069080"/>
            <a:ext cx="24688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67712" y="4069080"/>
            <a:ext cx="23225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file-system code evolution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663440" y="4069080"/>
            <a:ext cx="2331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36592" y="4069080"/>
            <a:ext cx="21854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Broad, long-term empirical study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995160" y="4069080"/>
            <a:ext cx="21488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68312" y="4069080"/>
            <a:ext cx="20025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Descriptive, not prescriptive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9144000" y="4069080"/>
            <a:ext cx="24688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217152" y="4069080"/>
            <a:ext cx="23225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everyday user operations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57200" y="5010912"/>
            <a:ext cx="11274552" cy="1051560"/>
          </a:xfrm>
          <a:prstGeom prst="rect">
            <a:avLst/>
          </a:prstGeom>
          <a:solidFill>
            <a:srgbClr val="EDEFF3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7240" y="5010912"/>
            <a:ext cx="106344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papers address different filesystem challenges, but most focus on internal filesystem reliability, scalability, metadata or recovery rather than providing a simple unified interface for common Linux file-management operations.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FileMaster — OSSP Review 2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1091672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 vs FileMaster — 16-Feature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108960" cy="329184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FileMaster Feature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566160" y="1097280"/>
            <a:ext cx="1633118" cy="329184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097280"/>
            <a:ext cx="163311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SquirrelFS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199278" y="1097280"/>
            <a:ext cx="1633118" cy="329184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9278" y="1097280"/>
            <a:ext cx="163311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32397" y="1097280"/>
            <a:ext cx="1633118" cy="329184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2397" y="1097280"/>
            <a:ext cx="163311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WOLVES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465515" y="1097280"/>
            <a:ext cx="1633118" cy="329184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65515" y="1097280"/>
            <a:ext cx="163311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F2FSJ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098634" y="1097280"/>
            <a:ext cx="1633118" cy="329184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8634" y="1097280"/>
            <a:ext cx="163311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FileMaster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426464"/>
            <a:ext cx="3108960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426464"/>
            <a:ext cx="292608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Directory Navigation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3566160" y="1426464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1426464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99278" y="1426464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9278" y="1426464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32397" y="1426464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2397" y="1426464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465515" y="1426464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65515" y="1426464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098634" y="1426464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98634" y="1426464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1650492"/>
            <a:ext cx="3108960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1650492"/>
            <a:ext cx="292608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List Files &amp; Folders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3566160" y="1650492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1650492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99278" y="1650492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99278" y="1650492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32397" y="1650492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32397" y="1650492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465515" y="1650492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65515" y="1650492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098634" y="1650492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98634" y="1650492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1874520"/>
            <a:ext cx="3108960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1874520"/>
            <a:ext cx="292608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Create File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3566160" y="1874520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66160" y="1874520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199278" y="1874520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99278" y="1874520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32397" y="1874520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32397" y="1874520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465515" y="1874520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65515" y="1874520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098634" y="1874520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98634" y="1874520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2098548"/>
            <a:ext cx="3108960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2098548"/>
            <a:ext cx="292608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Create Folder</a:t>
            </a:r>
            <a:endParaRPr lang="en-US" sz="870" dirty="0"/>
          </a:p>
        </p:txBody>
      </p:sp>
      <p:sp>
        <p:nvSpPr>
          <p:cNvPr id="54" name="Shape 52"/>
          <p:cNvSpPr/>
          <p:nvPr/>
        </p:nvSpPr>
        <p:spPr>
          <a:xfrm>
            <a:off x="3566160" y="2098548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66160" y="2098548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199278" y="2098548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99278" y="2098548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832397" y="2098548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32397" y="2098548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465515" y="2098548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65515" y="2098548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0098634" y="2098548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098634" y="2098548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" y="2322576"/>
            <a:ext cx="3108960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2322576"/>
            <a:ext cx="292608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Delete File</a:t>
            </a:r>
            <a:endParaRPr lang="en-US" sz="870" dirty="0"/>
          </a:p>
        </p:txBody>
      </p:sp>
      <p:sp>
        <p:nvSpPr>
          <p:cNvPr id="66" name="Shape 64"/>
          <p:cNvSpPr/>
          <p:nvPr/>
        </p:nvSpPr>
        <p:spPr>
          <a:xfrm>
            <a:off x="3566160" y="2322576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566160" y="2322576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99278" y="2322576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99278" y="2322576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832397" y="2322576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32397" y="2322576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465515" y="2322576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465515" y="2322576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10098634" y="2322576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098634" y="2322576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57200" y="2546604"/>
            <a:ext cx="3108960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48640" y="2546604"/>
            <a:ext cx="292608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Delete Folder</a:t>
            </a:r>
            <a:endParaRPr lang="en-US" sz="870" dirty="0"/>
          </a:p>
        </p:txBody>
      </p:sp>
      <p:sp>
        <p:nvSpPr>
          <p:cNvPr id="78" name="Shape 76"/>
          <p:cNvSpPr/>
          <p:nvPr/>
        </p:nvSpPr>
        <p:spPr>
          <a:xfrm>
            <a:off x="3566160" y="2546604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566160" y="2546604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5199278" y="2546604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199278" y="2546604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832397" y="2546604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832397" y="2546604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8465515" y="2546604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465515" y="2546604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10098634" y="2546604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098634" y="2546604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457200" y="2770632"/>
            <a:ext cx="3108960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48640" y="2770632"/>
            <a:ext cx="292608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Copy Files</a:t>
            </a:r>
            <a:endParaRPr lang="en-US" sz="870" dirty="0"/>
          </a:p>
        </p:txBody>
      </p:sp>
      <p:sp>
        <p:nvSpPr>
          <p:cNvPr id="90" name="Shape 88"/>
          <p:cNvSpPr/>
          <p:nvPr/>
        </p:nvSpPr>
        <p:spPr>
          <a:xfrm>
            <a:off x="3566160" y="2770632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566160" y="2770632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5199278" y="2770632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199278" y="2770632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6832397" y="2770632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832397" y="2770632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8465515" y="2770632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465515" y="2770632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10098634" y="2770632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098634" y="2770632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457200" y="2994660"/>
            <a:ext cx="3108960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48640" y="2994660"/>
            <a:ext cx="292608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Move Files</a:t>
            </a:r>
            <a:endParaRPr lang="en-US" sz="870" dirty="0"/>
          </a:p>
        </p:txBody>
      </p:sp>
      <p:sp>
        <p:nvSpPr>
          <p:cNvPr id="102" name="Shape 100"/>
          <p:cNvSpPr/>
          <p:nvPr/>
        </p:nvSpPr>
        <p:spPr>
          <a:xfrm>
            <a:off x="3566160" y="2994660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566160" y="2994660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5199278" y="2994660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199278" y="2994660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6832397" y="2994660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832397" y="2994660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8465515" y="2994660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465515" y="2994660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10098634" y="2994660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098634" y="2994660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457200" y="3218688"/>
            <a:ext cx="3108960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48640" y="3218688"/>
            <a:ext cx="292608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Rename Files/Folders</a:t>
            </a:r>
            <a:endParaRPr lang="en-US" sz="870" dirty="0"/>
          </a:p>
        </p:txBody>
      </p:sp>
      <p:sp>
        <p:nvSpPr>
          <p:cNvPr id="114" name="Shape 112"/>
          <p:cNvSpPr/>
          <p:nvPr/>
        </p:nvSpPr>
        <p:spPr>
          <a:xfrm>
            <a:off x="3566160" y="3218688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566160" y="3218688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5199278" y="3218688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199278" y="3218688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6832397" y="3218688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832397" y="3218688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8465515" y="3218688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465515" y="3218688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10098634" y="3218688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0098634" y="3218688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457200" y="3442716"/>
            <a:ext cx="3108960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48640" y="3442716"/>
            <a:ext cx="292608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Search Files</a:t>
            </a:r>
            <a:endParaRPr lang="en-US" sz="870" dirty="0"/>
          </a:p>
        </p:txBody>
      </p:sp>
      <p:sp>
        <p:nvSpPr>
          <p:cNvPr id="126" name="Shape 124"/>
          <p:cNvSpPr/>
          <p:nvPr/>
        </p:nvSpPr>
        <p:spPr>
          <a:xfrm>
            <a:off x="3566160" y="3442716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566160" y="3442716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5199278" y="3442716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199278" y="3442716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6832397" y="3442716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832397" y="3442716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8465515" y="3442716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465515" y="3442716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34" name="Shape 132"/>
          <p:cNvSpPr/>
          <p:nvPr/>
        </p:nvSpPr>
        <p:spPr>
          <a:xfrm>
            <a:off x="10098634" y="3442716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0098634" y="3442716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457200" y="3666744"/>
            <a:ext cx="3108960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548640" y="3666744"/>
            <a:ext cx="292608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View File Information</a:t>
            </a:r>
            <a:endParaRPr lang="en-US" sz="870" dirty="0"/>
          </a:p>
        </p:txBody>
      </p:sp>
      <p:sp>
        <p:nvSpPr>
          <p:cNvPr id="138" name="Shape 136"/>
          <p:cNvSpPr/>
          <p:nvPr/>
        </p:nvSpPr>
        <p:spPr>
          <a:xfrm>
            <a:off x="3566160" y="3666744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566160" y="3666744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5199278" y="3666744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5199278" y="3666744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2" name="Shape 140"/>
          <p:cNvSpPr/>
          <p:nvPr/>
        </p:nvSpPr>
        <p:spPr>
          <a:xfrm>
            <a:off x="6832397" y="3666744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832397" y="3666744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4" name="Shape 142"/>
          <p:cNvSpPr/>
          <p:nvPr/>
        </p:nvSpPr>
        <p:spPr>
          <a:xfrm>
            <a:off x="8465515" y="3666744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8465515" y="3666744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>
            <a:off x="10098634" y="3666744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0098634" y="3666744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8" name="Shape 146"/>
          <p:cNvSpPr/>
          <p:nvPr/>
        </p:nvSpPr>
        <p:spPr>
          <a:xfrm>
            <a:off x="457200" y="3890772"/>
            <a:ext cx="3108960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548640" y="3890772"/>
            <a:ext cx="292608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Change File Permissions</a:t>
            </a:r>
            <a:endParaRPr lang="en-US" sz="870" dirty="0"/>
          </a:p>
        </p:txBody>
      </p:sp>
      <p:sp>
        <p:nvSpPr>
          <p:cNvPr id="150" name="Shape 148"/>
          <p:cNvSpPr/>
          <p:nvPr/>
        </p:nvSpPr>
        <p:spPr>
          <a:xfrm>
            <a:off x="3566160" y="3890772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3566160" y="3890772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52" name="Shape 150"/>
          <p:cNvSpPr/>
          <p:nvPr/>
        </p:nvSpPr>
        <p:spPr>
          <a:xfrm>
            <a:off x="5199278" y="3890772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5199278" y="3890772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154" name="Shape 152"/>
          <p:cNvSpPr/>
          <p:nvPr/>
        </p:nvSpPr>
        <p:spPr>
          <a:xfrm>
            <a:off x="6832397" y="3890772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832397" y="3890772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156" name="Shape 154"/>
          <p:cNvSpPr/>
          <p:nvPr/>
        </p:nvSpPr>
        <p:spPr>
          <a:xfrm>
            <a:off x="8465515" y="3890772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8465515" y="3890772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58" name="Shape 156"/>
          <p:cNvSpPr/>
          <p:nvPr/>
        </p:nvSpPr>
        <p:spPr>
          <a:xfrm>
            <a:off x="10098634" y="3890772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10098634" y="3890772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0" name="Shape 158"/>
          <p:cNvSpPr/>
          <p:nvPr/>
        </p:nvSpPr>
        <p:spPr>
          <a:xfrm>
            <a:off x="457200" y="4114800"/>
            <a:ext cx="3108960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548640" y="4114800"/>
            <a:ext cx="292608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Preview Files</a:t>
            </a:r>
            <a:endParaRPr lang="en-US" sz="870" dirty="0"/>
          </a:p>
        </p:txBody>
      </p:sp>
      <p:sp>
        <p:nvSpPr>
          <p:cNvPr id="162" name="Shape 160"/>
          <p:cNvSpPr/>
          <p:nvPr/>
        </p:nvSpPr>
        <p:spPr>
          <a:xfrm>
            <a:off x="3566160" y="4114800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3566160" y="4114800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64" name="Shape 162"/>
          <p:cNvSpPr/>
          <p:nvPr/>
        </p:nvSpPr>
        <p:spPr>
          <a:xfrm>
            <a:off x="5199278" y="4114800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5199278" y="4114800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6" name="Shape 164"/>
          <p:cNvSpPr/>
          <p:nvPr/>
        </p:nvSpPr>
        <p:spPr>
          <a:xfrm>
            <a:off x="6832397" y="4114800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6832397" y="4114800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68" name="Shape 166"/>
          <p:cNvSpPr/>
          <p:nvPr/>
        </p:nvSpPr>
        <p:spPr>
          <a:xfrm>
            <a:off x="8465515" y="4114800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8465515" y="4114800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70" name="Shape 168"/>
          <p:cNvSpPr/>
          <p:nvPr/>
        </p:nvSpPr>
        <p:spPr>
          <a:xfrm>
            <a:off x="10098634" y="4114800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10098634" y="4114800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2" name="Shape 170"/>
          <p:cNvSpPr/>
          <p:nvPr/>
        </p:nvSpPr>
        <p:spPr>
          <a:xfrm>
            <a:off x="457200" y="4338828"/>
            <a:ext cx="3108960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548640" y="4338828"/>
            <a:ext cx="292608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Tree View</a:t>
            </a:r>
            <a:endParaRPr lang="en-US" sz="870" dirty="0"/>
          </a:p>
        </p:txBody>
      </p:sp>
      <p:sp>
        <p:nvSpPr>
          <p:cNvPr id="174" name="Shape 172"/>
          <p:cNvSpPr/>
          <p:nvPr/>
        </p:nvSpPr>
        <p:spPr>
          <a:xfrm>
            <a:off x="3566160" y="4338828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3566160" y="4338828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76" name="Shape 174"/>
          <p:cNvSpPr/>
          <p:nvPr/>
        </p:nvSpPr>
        <p:spPr>
          <a:xfrm>
            <a:off x="5199278" y="4338828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5199278" y="4338828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178" name="Shape 176"/>
          <p:cNvSpPr/>
          <p:nvPr/>
        </p:nvSpPr>
        <p:spPr>
          <a:xfrm>
            <a:off x="6832397" y="4338828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6832397" y="4338828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80" name="Shape 178"/>
          <p:cNvSpPr/>
          <p:nvPr/>
        </p:nvSpPr>
        <p:spPr>
          <a:xfrm>
            <a:off x="8465515" y="4338828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8465515" y="4338828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82" name="Shape 180"/>
          <p:cNvSpPr/>
          <p:nvPr/>
        </p:nvSpPr>
        <p:spPr>
          <a:xfrm>
            <a:off x="10098634" y="4338828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10098634" y="4338828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4" name="Shape 182"/>
          <p:cNvSpPr/>
          <p:nvPr/>
        </p:nvSpPr>
        <p:spPr>
          <a:xfrm>
            <a:off x="457200" y="4562856"/>
            <a:ext cx="3108960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548640" y="4562856"/>
            <a:ext cx="292608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Recent Files</a:t>
            </a:r>
            <a:endParaRPr lang="en-US" sz="870" dirty="0"/>
          </a:p>
        </p:txBody>
      </p:sp>
      <p:sp>
        <p:nvSpPr>
          <p:cNvPr id="186" name="Shape 184"/>
          <p:cNvSpPr/>
          <p:nvPr/>
        </p:nvSpPr>
        <p:spPr>
          <a:xfrm>
            <a:off x="3566160" y="4562856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3566160" y="4562856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88" name="Shape 186"/>
          <p:cNvSpPr/>
          <p:nvPr/>
        </p:nvSpPr>
        <p:spPr>
          <a:xfrm>
            <a:off x="5199278" y="4562856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5199278" y="4562856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90" name="Shape 188"/>
          <p:cNvSpPr/>
          <p:nvPr/>
        </p:nvSpPr>
        <p:spPr>
          <a:xfrm>
            <a:off x="6832397" y="4562856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6832397" y="4562856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92" name="Shape 190"/>
          <p:cNvSpPr/>
          <p:nvPr/>
        </p:nvSpPr>
        <p:spPr>
          <a:xfrm>
            <a:off x="8465515" y="4562856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8465515" y="4562856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94" name="Shape 192"/>
          <p:cNvSpPr/>
          <p:nvPr/>
        </p:nvSpPr>
        <p:spPr>
          <a:xfrm>
            <a:off x="10098634" y="4562856"/>
            <a:ext cx="1633118" cy="224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10098634" y="4562856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6" name="Shape 194"/>
          <p:cNvSpPr/>
          <p:nvPr/>
        </p:nvSpPr>
        <p:spPr>
          <a:xfrm>
            <a:off x="457200" y="4786884"/>
            <a:ext cx="3108960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548640" y="4786884"/>
            <a:ext cx="292608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Open Folder</a:t>
            </a:r>
            <a:endParaRPr lang="en-US" sz="870" dirty="0"/>
          </a:p>
        </p:txBody>
      </p:sp>
      <p:sp>
        <p:nvSpPr>
          <p:cNvPr id="198" name="Shape 196"/>
          <p:cNvSpPr/>
          <p:nvPr/>
        </p:nvSpPr>
        <p:spPr>
          <a:xfrm>
            <a:off x="3566160" y="4786884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3566160" y="4786884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200" name="Shape 198"/>
          <p:cNvSpPr/>
          <p:nvPr/>
        </p:nvSpPr>
        <p:spPr>
          <a:xfrm>
            <a:off x="5199278" y="4786884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5199278" y="4786884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2" name="Shape 200"/>
          <p:cNvSpPr/>
          <p:nvPr/>
        </p:nvSpPr>
        <p:spPr>
          <a:xfrm>
            <a:off x="6832397" y="4786884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6832397" y="4786884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204" name="Shape 202"/>
          <p:cNvSpPr/>
          <p:nvPr/>
        </p:nvSpPr>
        <p:spPr>
          <a:xfrm>
            <a:off x="8465515" y="4786884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8465515" y="4786884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000" dirty="0"/>
          </a:p>
        </p:txBody>
      </p:sp>
      <p:sp>
        <p:nvSpPr>
          <p:cNvPr id="206" name="Shape 204"/>
          <p:cNvSpPr/>
          <p:nvPr/>
        </p:nvSpPr>
        <p:spPr>
          <a:xfrm>
            <a:off x="10098634" y="4786884"/>
            <a:ext cx="1633118" cy="224028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10098634" y="4786884"/>
            <a:ext cx="1633118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8" name="Text 206"/>
          <p:cNvSpPr/>
          <p:nvPr/>
        </p:nvSpPr>
        <p:spPr>
          <a:xfrm>
            <a:off x="457200" y="5175504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Directly related      ~ Indirectly related      — Not a focus of the paper</a:t>
            </a:r>
            <a:endParaRPr lang="en-US" sz="1000" dirty="0"/>
          </a:p>
        </p:txBody>
      </p:sp>
      <p:sp>
        <p:nvSpPr>
          <p:cNvPr id="209" name="Shape 207"/>
          <p:cNvSpPr/>
          <p:nvPr/>
        </p:nvSpPr>
        <p:spPr>
          <a:xfrm>
            <a:off x="457200" y="5468112"/>
            <a:ext cx="11274552" cy="640080"/>
          </a:xfrm>
          <a:prstGeom prst="rect">
            <a:avLst/>
          </a:prstGeom>
          <a:solidFill>
            <a:srgbClr val="EDEFF3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685800" y="5468112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Finding: The reviewed papers address specific filesystem problems and capabilities, while FileMaster integrates the practical user-level operations into one unified Linux file-management system.</a:t>
            </a:r>
            <a:endParaRPr lang="en-US" sz="1050" dirty="0"/>
          </a:p>
        </p:txBody>
      </p:sp>
      <p:sp>
        <p:nvSpPr>
          <p:cNvPr id="211" name="Text 20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FileMaster — OSSP Review 2</a:t>
            </a:r>
            <a:endParaRPr lang="en-US" sz="900" dirty="0"/>
          </a:p>
        </p:txBody>
      </p:sp>
      <p:sp>
        <p:nvSpPr>
          <p:cNvPr id="212" name="Text 210"/>
          <p:cNvSpPr/>
          <p:nvPr/>
        </p:nvSpPr>
        <p:spPr>
          <a:xfrm>
            <a:off x="11091672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Research Gap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RESEARCH COVERS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Recovery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Performance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37760" y="1097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LIMITATION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141732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reviewed studies focus on advanced filesystem internals, scalability, consistency, reliability and recovery.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54964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49640" y="1417320"/>
            <a:ext cx="31821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lightweight and educational interface that integrates common Linux file and directory operations in one place.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11274552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29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 unified Linux file-management system covering practical file operations, directory management, search, metadata, permissions and file viewing.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RESPONSE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501091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FileMaster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57200" y="5623560"/>
            <a:ext cx="11274552" cy="777240"/>
          </a:xfrm>
          <a:prstGeom prst="rect">
            <a:avLst/>
          </a:prstGeom>
          <a:solidFill>
            <a:srgbClr val="EDEFF3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623560"/>
            <a:ext cx="10725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research strengthens what happens inside a filesystem. FileMaster addresses what a user needs on top of it — a single, unified way to perform everyday Linux file and directory operations.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FileMaster — OSSP Review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1672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FileMaster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572000" cy="384048"/>
          </a:xfrm>
          <a:prstGeom prst="rect">
            <a:avLst/>
          </a:prstGeom>
          <a:solidFill>
            <a:srgbClr val="EDEFF3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8013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4572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0253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FileMaster Main Menu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38658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87752"/>
            <a:ext cx="4572000" cy="868680"/>
          </a:xfrm>
          <a:prstGeom prst="rect">
            <a:avLst/>
          </a:prstGeom>
          <a:solidFill>
            <a:srgbClr val="EDEFF3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87752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Directory Module / Search &amp; Information / Permission Management / Preview &amp; Tree View / Recent Files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4564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4572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5760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Operations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0416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42816"/>
            <a:ext cx="4572000" cy="384048"/>
          </a:xfrm>
          <a:prstGeom prst="rect">
            <a:avLst/>
          </a:prstGeom>
          <a:solidFill>
            <a:srgbClr val="EDEFF3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24281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System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0" y="1097280"/>
            <a:ext cx="6245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BASIC MANAGEMENT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1417320"/>
            <a:ext cx="29855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Directory Navigation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09076" y="1417320"/>
            <a:ext cx="29855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 Files &amp; Folders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0" y="1709928"/>
            <a:ext cx="29855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File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09076" y="1709928"/>
            <a:ext cx="29855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Folder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0" y="2002536"/>
            <a:ext cx="29855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Delete File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609076" y="2002536"/>
            <a:ext cx="29855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Delete Folder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0" y="2651760"/>
            <a:ext cx="6245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FILE OPERATIONS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2971800"/>
            <a:ext cx="29855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Copy Files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609076" y="2971800"/>
            <a:ext cx="29855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Move Files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0" y="3264408"/>
            <a:ext cx="29855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Rename Files/Folders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609076" y="3264408"/>
            <a:ext cx="29855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Files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0" y="3794760"/>
            <a:ext cx="6245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ADVANCED LINUX FEATURES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0" y="4114800"/>
            <a:ext cx="29855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File Information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609076" y="4114800"/>
            <a:ext cx="29855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Change File Permissions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0" y="4407408"/>
            <a:ext cx="29855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Preview Files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09076" y="4407408"/>
            <a:ext cx="29855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Tree View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0" y="4700016"/>
            <a:ext cx="29855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Recent Files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609076" y="4700016"/>
            <a:ext cx="29855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Folder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FileMaster — OSSP Review 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91672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Literature to FileMaster Implementation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324612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143000"/>
            <a:ext cx="3099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Finding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03320" y="1143000"/>
            <a:ext cx="443484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76472" y="1143000"/>
            <a:ext cx="4288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FileMaster Feature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138160" y="1143000"/>
            <a:ext cx="3593592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11312" y="1143000"/>
            <a:ext cx="3447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Concept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27048"/>
            <a:ext cx="3246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527048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operations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703320" y="1527048"/>
            <a:ext cx="4434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6472" y="1527048"/>
            <a:ext cx="4288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Delete / Copy / Move / Rename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527048"/>
            <a:ext cx="35935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1527048"/>
            <a:ext cx="3447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1892808"/>
            <a:ext cx="3246120" cy="365760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1892808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management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03320" y="1892808"/>
            <a:ext cx="4434840" cy="365760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76472" y="1892808"/>
            <a:ext cx="4288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/ Create / Delete / Open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38160" y="1892808"/>
            <a:ext cx="3593592" cy="365760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11312" y="1892808"/>
            <a:ext cx="3447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handling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258568"/>
            <a:ext cx="3246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258568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organization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703320" y="2258568"/>
            <a:ext cx="4434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76472" y="2258568"/>
            <a:ext cx="4288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/ Search / Tree View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38160" y="2258568"/>
            <a:ext cx="35935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11312" y="2258568"/>
            <a:ext cx="3447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traversal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2624328"/>
            <a:ext cx="3246120" cy="365760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2624328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703320" y="2624328"/>
            <a:ext cx="4434840" cy="365760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76472" y="2624328"/>
            <a:ext cx="4288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Information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38160" y="2624328"/>
            <a:ext cx="3593592" cy="365760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11312" y="2624328"/>
            <a:ext cx="3447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stat()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2990088"/>
            <a:ext cx="3246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2990088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703320" y="2990088"/>
            <a:ext cx="4434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76472" y="2990088"/>
            <a:ext cx="4288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Permissions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138160" y="2990088"/>
            <a:ext cx="35935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11312" y="2990088"/>
            <a:ext cx="3447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chmod()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3355848"/>
            <a:ext cx="3246120" cy="365760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3355848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access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703320" y="3355848"/>
            <a:ext cx="4434840" cy="365760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76472" y="3355848"/>
            <a:ext cx="4288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138160" y="3355848"/>
            <a:ext cx="3593592" cy="365760"/>
          </a:xfrm>
          <a:prstGeom prst="rect">
            <a:avLst/>
          </a:prstGeom>
          <a:solidFill>
            <a:srgbClr val="EDEF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11312" y="3355848"/>
            <a:ext cx="3447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open() / read()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7200" y="3721608"/>
            <a:ext cx="3246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3721608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tracking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703320" y="3721608"/>
            <a:ext cx="4434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76472" y="3721608"/>
            <a:ext cx="4288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Files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138160" y="3721608"/>
            <a:ext cx="35935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11312" y="3721608"/>
            <a:ext cx="3447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File/path logging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57200" y="4361688"/>
            <a:ext cx="11274552" cy="502920"/>
          </a:xfrm>
          <a:prstGeom prst="rect">
            <a:avLst/>
          </a:prstGeom>
          <a:solidFill>
            <a:srgbClr val="EDEFF3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36168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  →   FileMaster Menu   →   Validate   →   Linux Operation   →   Result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457200" y="500176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FileMaster translates the concepts identified in the literature into practical Linux system-programming operations.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FileMaster — OSSP Review 2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091672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/ ACHIEVEMENTS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Linux-based file management system.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practical file and directory operations.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navigation, search and file-management functionality.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Linux file information and permission handling.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tree view, preview and recent-file functionality.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practical OSSP and Linux filesystem concepts.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graphical interface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search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support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filesystem monitoring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983480"/>
            <a:ext cx="5303520" cy="1417320"/>
          </a:xfrm>
          <a:prstGeom prst="rect">
            <a:avLst/>
          </a:prstGeom>
          <a:solidFill>
            <a:srgbClr val="EDEFF3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98348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FileMaster provides a simple unified interface for practical Linux file and directory management, guided by concepts identified through the literature review — file operations, scalability, metadata, reliability and recovery.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1097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1417320"/>
            <a:ext cx="56967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H. LeBlanc, N. Taylor, J. Bornholt, V. Chidambaram, "SquirrelFS: using the Rust compiler to check file-system crash consistency," 18th USENIX OSDI, 2024, pp. 387–404.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35040" y="2286000"/>
            <a:ext cx="56967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S. Shaikh, "Billion-files File Systems (BfFS): A Comparison," arXiv:2408.01805, Aug. 2024.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35040" y="3154680"/>
            <a:ext cx="56967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Y. Pan, W. Xia, Y. Zhang, X. Zou, H. Huang, Z. Li, C. Wu, "Fast and Synchronous Crash Consistency with Metadata Write-Once File System (WOLVES)," 19th USENIX OSDI, 2025, pp. 859–878.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35040" y="4023360"/>
            <a:ext cx="56967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Decentralized, Epoch-based F2FS Journaling with Fine-grained Crash Recovery (F2FSJ), 19th USENIX OSDI, 2025.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35040" y="4892040"/>
            <a:ext cx="56967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L. Lu, A. C. Arpaci-Dusseau, R. H. Arpaci-Dusseau, S. Lu, "A Study of Linux File System Evolution," 11th USENIX FAST, 2013, pp. 31–44.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FileMaster — OSSP Review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1672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1333</Words>
  <Application>Microsoft Office PowerPoint</Application>
  <PresentationFormat>Widescreen</PresentationFormat>
  <Paragraphs>319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Katna Abhineshwar</cp:lastModifiedBy>
  <cp:revision>3</cp:revision>
  <dcterms:created xsi:type="dcterms:W3CDTF">2026-08-18T03:50:51Z</dcterms:created>
  <dcterms:modified xsi:type="dcterms:W3CDTF">2026-08-18T04:12:27Z</dcterms:modified>
</cp:coreProperties>
</file>