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4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9908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6400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FileMaster: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Linux File Management System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65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Menu-Driven File Management System Using C and Linux</a:t>
            </a:r>
            <a:endParaRPr lang="en-US" sz="1200" dirty="0"/>
          </a:p>
        </p:txBody>
      </p:sp>
      <p:graphicFrame>
        <p:nvGraphicFramePr>
          <p:cNvPr id="17" name="Team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323670"/>
              </p:ext>
            </p:extLst>
          </p:nvPr>
        </p:nvGraphicFramePr>
        <p:xfrm>
          <a:off x="457200" y="2560320"/>
          <a:ext cx="4114800" cy="1188720"/>
        </p:xfrm>
        <a:graphic>
          <a:graphicData uri="http://schemas.openxmlformats.org/drawingml/2006/table">
            <a:tbl>
              <a:tblPr firstRow="1"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Role No</a:t>
                      </a:r>
                    </a:p>
                  </a:txBody>
                  <a:tcPr marT="27432" marB="27432" anchor="ctr">
                    <a:lnL w="12700">
                      <a:solidFill>
                        <a:srgbClr val="C9D6EA"/>
                      </a:solidFill>
                    </a:lnL>
                    <a:lnR w="12700">
                      <a:solidFill>
                        <a:srgbClr val="C9D6EA"/>
                      </a:solidFill>
                    </a:lnR>
                    <a:lnT w="12700">
                      <a:solidFill>
                        <a:srgbClr val="C9D6EA"/>
                      </a:solidFill>
                    </a:lnT>
                    <a:lnB w="12700">
                      <a:solidFill>
                        <a:srgbClr val="C9D6EA"/>
                      </a:solidFill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Name</a:t>
                      </a:r>
                    </a:p>
                  </a:txBody>
                  <a:tcPr marT="27432" marB="27432" anchor="ctr">
                    <a:lnL w="12700">
                      <a:solidFill>
                        <a:srgbClr val="C9D6EA"/>
                      </a:solidFill>
                    </a:lnL>
                    <a:lnR w="12700">
                      <a:solidFill>
                        <a:srgbClr val="C9D6EA"/>
                      </a:solidFill>
                    </a:lnR>
                    <a:lnT w="12700">
                      <a:solidFill>
                        <a:srgbClr val="C9D6EA"/>
                      </a:solidFill>
                    </a:lnT>
                    <a:lnB w="12700">
                      <a:solidFill>
                        <a:srgbClr val="C9D6EA"/>
                      </a:solidFill>
                    </a:lnB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2510030306</a:t>
                      </a:r>
                    </a:p>
                  </a:txBody>
                  <a:tcPr marT="27432" marB="27432" anchor="ctr">
                    <a:lnL w="12700">
                      <a:solidFill>
                        <a:srgbClr val="C9D6EA"/>
                      </a:solidFill>
                    </a:lnL>
                    <a:lnR w="12700">
                      <a:solidFill>
                        <a:srgbClr val="C9D6EA"/>
                      </a:solidFill>
                    </a:lnR>
                    <a:lnT w="12700">
                      <a:solidFill>
                        <a:srgbClr val="C9D6EA"/>
                      </a:solidFill>
                    </a:lnT>
                    <a:lnB w="12700">
                      <a:solidFill>
                        <a:srgbClr val="C9D6EA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Katna</a:t>
                      </a:r>
                      <a:r>
                        <a:rPr lang="en-US" sz="10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Abhineshwar</a:t>
                      </a:r>
                      <a:endParaRPr lang="en-US" sz="1000" dirty="0">
                        <a:solidFill>
                          <a:srgbClr val="3A3F47"/>
                        </a:solidFill>
                        <a:latin typeface="Poppins" pitchFamily="34" charset="0"/>
                        <a:ea typeface="Poppins" pitchFamily="34" charset="-122"/>
                        <a:cs typeface="Poppins" pitchFamily="34" charset="-120"/>
                      </a:endParaRPr>
                    </a:p>
                  </a:txBody>
                  <a:tcPr marT="27432" marB="27432" anchor="ctr">
                    <a:lnL w="12700">
                      <a:solidFill>
                        <a:srgbClr val="C9D6EA"/>
                      </a:solidFill>
                    </a:lnL>
                    <a:lnR w="12700">
                      <a:solidFill>
                        <a:srgbClr val="C9D6EA"/>
                      </a:solidFill>
                    </a:lnR>
                    <a:lnT w="12700">
                      <a:solidFill>
                        <a:srgbClr val="C9D6EA"/>
                      </a:solidFill>
                    </a:lnT>
                    <a:lnB w="12700">
                      <a:solidFill>
                        <a:srgbClr val="C9D6EA"/>
                      </a:solidFill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2510030246</a:t>
                      </a:r>
                    </a:p>
                  </a:txBody>
                  <a:tcPr marT="27432" marB="27432" anchor="ctr">
                    <a:lnL w="12700">
                      <a:solidFill>
                        <a:srgbClr val="C9D6EA"/>
                      </a:solidFill>
                    </a:lnL>
                    <a:lnR w="12700">
                      <a:solidFill>
                        <a:srgbClr val="C9D6EA"/>
                      </a:solidFill>
                    </a:lnR>
                    <a:lnT w="12700">
                      <a:solidFill>
                        <a:srgbClr val="C9D6EA"/>
                      </a:solidFill>
                    </a:lnT>
                    <a:lnB w="12700">
                      <a:solidFill>
                        <a:srgbClr val="C9D6EA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Mallala</a:t>
                      </a:r>
                      <a:r>
                        <a:rPr lang="en-US" sz="10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 Sri Charan</a:t>
                      </a:r>
                    </a:p>
                  </a:txBody>
                  <a:tcPr marT="27432" marB="27432" anchor="ctr">
                    <a:lnL w="12700">
                      <a:solidFill>
                        <a:srgbClr val="C9D6EA"/>
                      </a:solidFill>
                    </a:lnL>
                    <a:lnR w="12700">
                      <a:solidFill>
                        <a:srgbClr val="C9D6EA"/>
                      </a:solidFill>
                    </a:lnR>
                    <a:lnT w="12700">
                      <a:solidFill>
                        <a:srgbClr val="C9D6EA"/>
                      </a:solidFill>
                    </a:lnT>
                    <a:lnB w="12700">
                      <a:solidFill>
                        <a:srgbClr val="C9D6EA"/>
                      </a:solidFill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2510030412</a:t>
                      </a:r>
                    </a:p>
                  </a:txBody>
                  <a:tcPr marT="27432" marB="27432" anchor="ctr">
                    <a:lnL w="12700">
                      <a:solidFill>
                        <a:srgbClr val="C9D6EA"/>
                      </a:solidFill>
                    </a:lnL>
                    <a:lnR w="12700">
                      <a:solidFill>
                        <a:srgbClr val="C9D6EA"/>
                      </a:solidFill>
                    </a:lnR>
                    <a:lnT w="12700">
                      <a:solidFill>
                        <a:srgbClr val="C9D6EA"/>
                      </a:solidFill>
                    </a:lnT>
                    <a:lnB w="12700">
                      <a:solidFill>
                        <a:srgbClr val="C9D6EA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Akhil Sagar</a:t>
                      </a:r>
                    </a:p>
                  </a:txBody>
                  <a:tcPr marT="27432" marB="27432" anchor="ctr">
                    <a:lnL w="12700">
                      <a:solidFill>
                        <a:srgbClr val="C9D6EA"/>
                      </a:solidFill>
                    </a:lnL>
                    <a:lnR w="12700">
                      <a:solidFill>
                        <a:srgbClr val="C9D6EA"/>
                      </a:solidFill>
                    </a:lnR>
                    <a:lnT w="12700">
                      <a:solidFill>
                        <a:srgbClr val="C9D6EA"/>
                      </a:solidFill>
                    </a:lnT>
                    <a:lnB w="12700">
                      <a:solidFill>
                        <a:srgbClr val="C9D6EA"/>
                      </a:solidFill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2510030298</a:t>
                      </a:r>
                    </a:p>
                  </a:txBody>
                  <a:tcPr marT="27432" marB="27432" anchor="ctr">
                    <a:lnL w="12700">
                      <a:solidFill>
                        <a:srgbClr val="C9D6EA"/>
                      </a:solidFill>
                    </a:lnL>
                    <a:lnR w="12700">
                      <a:solidFill>
                        <a:srgbClr val="C9D6EA"/>
                      </a:solidFill>
                    </a:lnR>
                    <a:lnT w="12700">
                      <a:solidFill>
                        <a:srgbClr val="C9D6EA"/>
                      </a:solidFill>
                    </a:lnT>
                    <a:lnB w="12700">
                      <a:solidFill>
                        <a:srgbClr val="C9D6EA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Abhilash Goud</a:t>
                      </a:r>
                    </a:p>
                  </a:txBody>
                  <a:tcPr marT="27432" marB="27432" anchor="ctr">
                    <a:lnL w="12700">
                      <a:solidFill>
                        <a:srgbClr val="C9D6EA"/>
                      </a:solidFill>
                    </a:lnL>
                    <a:lnR w="12700">
                      <a:solidFill>
                        <a:srgbClr val="C9D6EA"/>
                      </a:solidFill>
                    </a:lnR>
                    <a:lnT w="12700">
                      <a:solidFill>
                        <a:srgbClr val="C9D6EA"/>
                      </a:solidFill>
                    </a:lnT>
                    <a:lnB w="12700">
                      <a:solidFill>
                        <a:srgbClr val="C9D6EA"/>
                      </a:solidFill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457200" y="3840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 2026–2027</a:t>
            </a:r>
          </a:p>
        </p:txBody>
      </p:sp>
      <p:sp>
        <p:nvSpPr>
          <p:cNvPr id="9" name="Shape 7"/>
          <p:cNvSpPr/>
          <p:nvPr/>
        </p:nvSpPr>
        <p:spPr>
          <a:xfrm>
            <a:off x="4754880" y="457200"/>
            <a:ext cx="4114800" cy="4023360"/>
          </a:xfrm>
          <a:prstGeom prst="roundRect">
            <a:avLst>
              <a:gd name="adj" fmla="val 1136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457200"/>
            <a:ext cx="411480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5303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3480" y="5303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5303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3DB674-D491-CCCB-BBD9-B831296C4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685800"/>
            <a:ext cx="40233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Linux has powerful file commands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Users must remember commands and syntax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Paths and navigation confuse beginners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operation needs a different command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Information and permissions need more commands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typing causes syntax errors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simple unified interface for beginners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1737360" cy="1737360"/>
          </a:xfrm>
          <a:prstGeom prst="roundRect">
            <a:avLst>
              <a:gd name="adj" fmla="val 2632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005840"/>
            <a:ext cx="173736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7899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07899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07899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1005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Traditional CLI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1298448"/>
            <a:ext cx="151790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E2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touch a.txt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AE2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ram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AE2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a b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AE2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mv a b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AE2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. -name x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AE2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chmod 755 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36576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58000" y="1005840"/>
            <a:ext cx="1828800" cy="1737360"/>
          </a:xfrm>
          <a:prstGeom prst="roundRect">
            <a:avLst>
              <a:gd name="adj" fmla="val 2632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1005840"/>
            <a:ext cx="182880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107899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107899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107899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1005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FileMaster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6967728" y="1298448"/>
            <a:ext cx="16093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EE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Create File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EE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Create Folder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EE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 Copy Files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EE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 Move Files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EE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 Search Files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EE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16. Change Permission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FileMaster aims to simplify Linux file management through a user-friendly, menu-driven C application.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188720"/>
            <a:ext cx="685800" cy="685800"/>
          </a:xfrm>
          <a:prstGeom prst="ellipse">
            <a:avLst/>
          </a:prstGeom>
          <a:solidFill>
            <a:srgbClr val="1F6F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🐧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Develop a Linux-based file management application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188720"/>
            <a:ext cx="685800" cy="685800"/>
          </a:xfrm>
          <a:prstGeom prst="ellipse">
            <a:avLst/>
          </a:prstGeom>
          <a:solidFill>
            <a:srgbClr val="1F6F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☰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Provide a menu-driven interface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1188720"/>
            <a:ext cx="685800" cy="685800"/>
          </a:xfrm>
          <a:prstGeom prst="ellipse">
            <a:avLst/>
          </a:prstGeom>
          <a:solidFill>
            <a:srgbClr val="1F6F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📄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Perform file and directory operations efficiently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7320" y="3017520"/>
            <a:ext cx="685800" cy="685800"/>
          </a:xfrm>
          <a:prstGeom prst="ellipse">
            <a:avLst/>
          </a:prstGeom>
          <a:solidFill>
            <a:srgbClr val="1F6F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⚙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Implement Linux/POSIX system calls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46120" y="288036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3017520"/>
            <a:ext cx="685800" cy="685800"/>
          </a:xfrm>
          <a:prstGeom prst="ellipse">
            <a:avLst/>
          </a:prstGeom>
          <a:solidFill>
            <a:srgbClr val="1F6F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🔒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Manage file information and permissions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288036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3017520"/>
            <a:ext cx="685800" cy="685800"/>
          </a:xfrm>
          <a:prstGeom prst="ellipse">
            <a:avLst/>
          </a:prstGeom>
          <a:solidFill>
            <a:srgbClr val="1F6F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🎓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 Demonstrate OS and System Programming concepts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Existing System vs Proposed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749040" cy="274320"/>
          </a:xfrm>
          <a:prstGeom prst="rect">
            <a:avLst/>
          </a:prstGeom>
          <a:solidFill>
            <a:srgbClr val="1F6F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Existing Linux CLI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Multiple commands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Syntax memorization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paths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Separate operations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Separate permission commands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1371600"/>
            <a:ext cx="1920240" cy="1554480"/>
          </a:xfrm>
          <a:prstGeom prst="roundRect">
            <a:avLst>
              <a:gd name="adj" fmla="val 2941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371600"/>
            <a:ext cx="192024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14447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4447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14447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34640" y="1371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2395728" y="1664208"/>
            <a:ext cx="17007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AE2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Documents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AE2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AE2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a.txt ../b.txt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AE2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chmod 644 b.txt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251960" y="2103120"/>
            <a:ext cx="45720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solidFill>
            <a:srgbClr val="1F6F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FileMaster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137160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Single interface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Numbered menu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Simple input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Integrated operations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Permissions, search, tree view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1371600"/>
            <a:ext cx="2011680" cy="1554480"/>
          </a:xfrm>
          <a:prstGeom prst="roundRect">
            <a:avLst>
              <a:gd name="adj" fmla="val 2941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1371600"/>
            <a:ext cx="201168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4447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14447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14447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23760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FileMaster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6784848" y="1664208"/>
            <a:ext cx="17922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EE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Directory Navigation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EE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 Copy Files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EE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 Search Files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EE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16. Change Permission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" y="33832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Complex CLI  →  Simplified FileMaster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Beginner friendly: fewer commands to remember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 Operations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46120" y="10058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Directory &amp; Namespace Management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0" y="10058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Filesystem Scalability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Metadata &amp; Permissions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6459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Reliability &amp; Recovery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16459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Crash Consistency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solidFill>
            <a:srgbClr val="1F6F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Timeline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246120"/>
            <a:ext cx="768096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3154680"/>
            <a:ext cx="182880" cy="1828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2013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47472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📄 A Study of Linux File System Evolution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 2013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3154680"/>
            <a:ext cx="182880" cy="1828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6616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347472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📄 SquirrelFS (OSDI 2024)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BfFS (2024)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0" y="3154680"/>
            <a:ext cx="182880" cy="1828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347472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📄 WOLVES (OSDI 2025)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F2FSJ (OSDI 2025)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We Learned from Existing Research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SquirrelFS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325880"/>
            <a:ext cx="36576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926080" y="10058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Crash consistency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32120" y="1325880"/>
            <a:ext cx="36576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943600" y="100584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FileMaster: Safe checks before changes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BfFS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2103120"/>
            <a:ext cx="36576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926080" y="178308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Large-scale file organization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32120" y="2103120"/>
            <a:ext cx="36576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943600" y="17830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FileMaster: Recursive search and tree view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5603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WOLVES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14600" y="2880360"/>
            <a:ext cx="36576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926080" y="256032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Metadata consistency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32120" y="2880360"/>
            <a:ext cx="36576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943600" y="256032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FileMaster: File information and permissions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F2FSJ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14600" y="3657600"/>
            <a:ext cx="36576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926080" y="333756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Fine-grained recovery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32120" y="3657600"/>
            <a:ext cx="36576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943600" y="33375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FileMaster: Error and input handling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→ File Operations → Scalability → Metadata → Reliability → Recovery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Gap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solidFill>
            <a:srgbClr val="1F6F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Existing Research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Scalability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Reliability and metadata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Crash recovery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Filesystem performance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Internal filesystem mechanisms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3931920" cy="274320"/>
          </a:xfrm>
          <a:prstGeom prst="rect">
            <a:avLst/>
          </a:prstGeom>
          <a:solidFill>
            <a:srgbClr val="1F6F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3375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simple, lightweight, educational interface integrating common Linux file and directory operations.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0" y="100584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1600200"/>
            <a:ext cx="0" cy="32004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029200" y="192024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Advanced Filesystem Problems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2514600"/>
            <a:ext cx="0" cy="32004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029200" y="283464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User-Level Gap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3429000"/>
            <a:ext cx="0" cy="32004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029200" y="374904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FILEMASTER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FileMaster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1463040"/>
            <a:ext cx="0" cy="146304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57200" y="1609344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FILEMASTER MENU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2066544"/>
            <a:ext cx="0" cy="146304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57200" y="2212848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OPERATION MODULE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2670048"/>
            <a:ext cx="0" cy="146304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57200" y="2816352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LINUX/POSIX API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3273552"/>
            <a:ext cx="0" cy="146304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57200" y="3419856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KERNEL / VFS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03120" y="3877056"/>
            <a:ext cx="0" cy="146304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57200" y="402336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LINUX FILE SYSTEM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06240" y="1005840"/>
            <a:ext cx="4480560" cy="274320"/>
          </a:xfrm>
          <a:prstGeom prst="rect">
            <a:avLst/>
          </a:prstGeom>
          <a:solidFill>
            <a:srgbClr val="1F6F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FileMaster Provides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0" y="141732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 Management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141732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Directory Management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210312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10312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 Information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06240" y="278892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Permissions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278892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 Preview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06240" y="347472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Tree View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 –  Types a menu choice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1463040"/>
            <a:ext cx="0" cy="146304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57200" y="1609344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MENU-DRIVEN INTERFACE  –  Reads and validates input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2066544"/>
            <a:ext cx="0" cy="146304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57200" y="2212848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FILEMASTER MODULES  –  C modules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2670048"/>
            <a:ext cx="0" cy="146304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57200" y="2816352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LINUX SYSTEM CALLS  –  POSIX API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3273552"/>
            <a:ext cx="0" cy="146304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57200" y="3419856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LINUX KERNEL / VFS  –  Virtual File System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3877056"/>
            <a:ext cx="0" cy="146304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57200" y="402336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LINUX FILE SYSTEM  –  Files and folders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1005840"/>
            <a:ext cx="3200400" cy="274320"/>
          </a:xfrm>
          <a:prstGeom prst="rect">
            <a:avLst/>
          </a:prstGeom>
          <a:solidFill>
            <a:srgbClr val="1F6F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Calls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1417320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0" y="1417320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1874520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0" y="1874520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2331720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mkdir()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0" y="2331720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unlink()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2788920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rename()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32320" y="2788920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chmod()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3246120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lstat()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0" y="3246120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opendir()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3703320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readdir()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🐧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Operating System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Ubuntu Linux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21408" y="100584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Programming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85616" y="100584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Compiler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GCC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49824" y="100584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&gt;_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Interface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14032" y="100584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📚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POSIX / Linux system calls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solidFill>
            <a:srgbClr val="1F6F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Concepts Used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 I/O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31089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Directory handling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31089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Metadata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Permissions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37490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Directory traversal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37490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Linux VFS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Modular System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383280" y="219456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FileMaster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&gt;_ C + Linux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Main / Menu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1344168"/>
            <a:ext cx="27432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Directory Operations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2258568"/>
            <a:ext cx="27432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3464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File Editor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3172968"/>
            <a:ext cx="27432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4904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File Operations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4087368"/>
            <a:ext cx="27432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18872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Search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1527048"/>
            <a:ext cx="27432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2860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 Permission Management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2624328"/>
            <a:ext cx="27432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338328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 Tree View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3721608"/>
            <a:ext cx="27432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572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module has a focused responsibility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Implemented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051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Directory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618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🧭 Directory Navigation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051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Directory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12618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📋 List Files and Folders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051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Directory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2618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➕ Create Folder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10058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1051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Directory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2618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📂 Open Folder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19202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1965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Directory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21762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🗑 Delete Folder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0" y="19202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51760" y="1965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2651760" y="21762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📄 Create File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9202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1965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21762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✏️ Write Text to File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66560" y="19202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1965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21762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👁 Preview File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28346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2880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0906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❌ Delete File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0" y="28346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651760" y="2880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2651760" y="30906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📑 Copy Files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28346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54880" y="2880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4754880" y="30906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➡️ Move Files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66560" y="28346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0" y="2880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30906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🏷 Rename Files / Folders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37490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3794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 / Info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4005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🔍 Search Files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560320" y="37490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651760" y="3794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 / Info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2651760" y="4005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ℹ️ View File Information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63440" y="37490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754880" y="3794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/ View</a:t>
            </a:r>
            <a:endParaRPr lang="en-US" sz="700" dirty="0"/>
          </a:p>
        </p:txBody>
      </p:sp>
      <p:sp>
        <p:nvSpPr>
          <p:cNvPr id="50" name="Text 48"/>
          <p:cNvSpPr txBox="1"/>
          <p:nvPr/>
        </p:nvSpPr>
        <p:spPr>
          <a:xfrm>
            <a:off x="4754880" y="4005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🔒 Change File Permissions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66560" y="37490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858000" y="3794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/ View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6858000" y="4005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🌳 Tree View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4617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Plus Exit (option 17) – 16 operations implemented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FileMaster Main Menu — Actual Output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4297680" cy="3931920"/>
          </a:xfrm>
          <a:prstGeom prst="roundRect">
            <a:avLst>
              <a:gd name="adj" fmla="val 1163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29768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94183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94183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94183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10972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 numbered options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Grouped under FILE OPERATIONS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 current directory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Invalid choices are rejected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32918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Menu-driven: no commands to memorize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3BF0065-A6DE-BE2F-3120-B4ABFF3F7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429768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Directory Operations — Output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43200" cy="3840480"/>
          </a:xfrm>
          <a:prstGeom prst="roundRect">
            <a:avLst>
              <a:gd name="adj" fmla="val 1667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274320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875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9875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9875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914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Navigation + List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743200" cy="3840480"/>
          </a:xfrm>
          <a:prstGeom prst="roundRect">
            <a:avLst>
              <a:gd name="adj" fmla="val 1667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14400"/>
            <a:ext cx="274320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9875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9875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9875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49040" y="914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+ Open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035040" y="914400"/>
            <a:ext cx="2743200" cy="3840480"/>
          </a:xfrm>
          <a:prstGeom prst="roundRect">
            <a:avLst>
              <a:gd name="adj" fmla="val 1667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914400"/>
            <a:ext cx="274320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9875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9875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9875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0" y="914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Folder</a:t>
            </a:r>
            <a:endParaRPr lang="en-US" sz="7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C617CDB-F3D4-12F8-379B-8CDCC84CD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43000"/>
            <a:ext cx="2743200" cy="16992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488F599-D91D-E744-4025-0BCEC801F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3" y="2933699"/>
            <a:ext cx="2761488" cy="176631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78F086A-EF74-A134-DDA2-2393792D3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1200699"/>
            <a:ext cx="2724912" cy="107601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D4A0501-ACC3-A38A-FD10-68753C7E3F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2368158"/>
            <a:ext cx="2724912" cy="238672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7F1543F-676A-5BAB-A66B-8CEDBBB6BA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5895" y="1821973"/>
            <a:ext cx="2761489" cy="16415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 Creation and Editing — Output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43200" cy="3017520"/>
          </a:xfrm>
          <a:prstGeom prst="roundRect">
            <a:avLst>
              <a:gd name="adj" fmla="val 1667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274320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875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9875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9875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914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Create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154680" y="2377440"/>
            <a:ext cx="13716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91840" y="914400"/>
            <a:ext cx="2743200" cy="3017520"/>
          </a:xfrm>
          <a:prstGeom prst="roundRect">
            <a:avLst>
              <a:gd name="adj" fmla="val 1667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914400"/>
            <a:ext cx="274320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9875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9875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9875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40480" y="914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Write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080760" y="2377440"/>
            <a:ext cx="13716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17920" y="914400"/>
            <a:ext cx="2697480" cy="3017520"/>
          </a:xfrm>
          <a:prstGeom prst="roundRect">
            <a:avLst>
              <a:gd name="adj" fmla="val 1786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914400"/>
            <a:ext cx="2697480" cy="155448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9875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9875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9875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9144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Preview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822960" y="416052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File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49040" y="416052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Text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75120" y="416052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Preview File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796F081-03C9-0CED-46D0-8FB70012F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1618489"/>
            <a:ext cx="2743201" cy="174701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5D402BC-23D7-FC18-A46A-20C1F7433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8980" y="1556340"/>
            <a:ext cx="2743200" cy="173363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F502D77-051E-8292-6D28-CF42F71C3C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5060" y="1579118"/>
            <a:ext cx="2697480" cy="18308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 Operations — Output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206240" cy="1920240"/>
          </a:xfrm>
          <a:prstGeom prst="roundRect">
            <a:avLst>
              <a:gd name="adj" fmla="val 2381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420624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875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9875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9875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914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114800" cy="1920240"/>
          </a:xfrm>
          <a:prstGeom prst="roundRect">
            <a:avLst>
              <a:gd name="adj" fmla="val 2381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914400"/>
            <a:ext cx="411480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9875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9875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9875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914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4206240" cy="1828800"/>
          </a:xfrm>
          <a:prstGeom prst="roundRect">
            <a:avLst>
              <a:gd name="adj" fmla="val 2500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26080"/>
            <a:ext cx="420624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99923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299923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299923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29260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663440" y="2926080"/>
            <a:ext cx="4114800" cy="1828800"/>
          </a:xfrm>
          <a:prstGeom prst="roundRect">
            <a:avLst>
              <a:gd name="adj" fmla="val 2500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926080"/>
            <a:ext cx="411480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99923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99923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0" y="299923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12080" y="2926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Rename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4773168" y="3218688"/>
            <a:ext cx="38953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D3BB6E3-B3B3-500E-F3CE-A203FEDFF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1140394"/>
            <a:ext cx="4187952" cy="169424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C03676D-734C-A56E-2891-E2A0CBF8F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140393"/>
            <a:ext cx="4114800" cy="166061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835A6A1-9AB6-2DBD-A0C8-71765C1E15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1" y="3188308"/>
            <a:ext cx="4187952" cy="151170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0725F8A-7586-6050-C2BA-F72C523E63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3188308"/>
            <a:ext cx="4087368" cy="156657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 Files and Folders — Output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029200" cy="3840480"/>
          </a:xfrm>
          <a:prstGeom prst="roundRect">
            <a:avLst>
              <a:gd name="adj" fmla="val 1190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502920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875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9875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9875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9144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 Files and Folders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75488" y="1207008"/>
            <a:ext cx="4809744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D4CE63B-0C9B-5B5B-97EE-145B0B402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61288"/>
            <a:ext cx="5029200" cy="35387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View File Information — Output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18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303520" cy="3840480"/>
          </a:xfrm>
          <a:prstGeom prst="roundRect">
            <a:avLst>
              <a:gd name="adj" fmla="val 1190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530352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875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9875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9875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9144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View File Information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0" y="100584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📄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 / Type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60920" y="100584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💾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Size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0" y="201168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🔒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Permission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60920" y="201168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👤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301752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👥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Group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60920" y="301752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🕒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962FB0B-051C-AA4C-5BB1-10AE7B0A9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77123"/>
            <a:ext cx="5303520" cy="357775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Linux File Permissions — Output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572000" cy="3840480"/>
          </a:xfrm>
          <a:prstGeom prst="roundRect">
            <a:avLst>
              <a:gd name="adj" fmla="val 1190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457200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875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9875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9875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9372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File Permission</a:t>
            </a:r>
          </a:p>
        </p:txBody>
      </p:sp>
      <p:sp>
        <p:nvSpPr>
          <p:cNvPr id="13" name="Text 11"/>
          <p:cNvSpPr/>
          <p:nvPr/>
        </p:nvSpPr>
        <p:spPr>
          <a:xfrm>
            <a:off x="5212080" y="100584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0" y="146304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201168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100584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GROUP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146304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01168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89520" y="100584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OTHERS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89520" y="146304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589520" y="201168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2743200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chmod(path, 0755)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32004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chmod() changes permission bits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digit = owner, group, others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r=4  w=2  x=1</a:t>
            </a:r>
            <a:endParaRPr lang="en-US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11E2E23-9C4E-1099-5236-7E9A33B02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45" y="1156591"/>
            <a:ext cx="4470630" cy="359828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Tree View — Output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486400" cy="3840480"/>
          </a:xfrm>
          <a:prstGeom prst="roundRect">
            <a:avLst>
              <a:gd name="adj" fmla="val 1190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548640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9875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9875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9875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9144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 View</a:t>
            </a:r>
            <a:endParaRPr lang="en-US" sz="7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30F90EC-EFC8-0E82-C934-B64EE6F9D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48640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Recursive File and Folder Management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657600" cy="3017520"/>
          </a:xfrm>
          <a:prstGeom prst="roundRect">
            <a:avLst>
              <a:gd name="adj" fmla="val 1515"/>
            </a:avLst>
          </a:prstGeom>
          <a:solidFill>
            <a:srgbClr val="F7F9FD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115568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3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workspace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3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Documents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3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3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notes.txt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3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Downloads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3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test.txt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3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project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3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3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main.c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2468880"/>
            <a:ext cx="45720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4846320" y="100584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Finds files in nested folders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need to open every folder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 traverses the hierarchy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Delete Folder removes contents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Tree View shows structure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 and Permission reach nested items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Folder → subfolder → file: traversal visits every level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Linux System Calls Used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</a:t>
            </a:r>
            <a:endParaRPr lang="en-US" sz="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572000" cy="341985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Operation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System Call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Create / Open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open()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Read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read()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Write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write()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Close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close()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Create Directory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mkdir()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Delete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unlink()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Move / Rename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rename()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Permissions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chmod()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Metadata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lstat()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Directory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F4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opendir() / readdir()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0" y="1005840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178040" y="1444752"/>
            <a:ext cx="0" cy="18288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5669280" y="1627632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FILEMASTER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78040" y="2066544"/>
            <a:ext cx="0" cy="18288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5669280" y="2249424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POSIX API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178040" y="2688336"/>
            <a:ext cx="0" cy="18288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5669280" y="2871216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LINUX KERNEL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178040" y="3310128"/>
            <a:ext cx="0" cy="18288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5669280" y="3493008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VFS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78040" y="3931920"/>
            <a:ext cx="0" cy="18288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5669280" y="4114800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 SYSTEM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Program Execution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1307592"/>
            <a:ext cx="32004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148840" y="100584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Workspace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20440" y="1307592"/>
            <a:ext cx="32004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840480" y="100584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Display Menu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12080" y="1307592"/>
            <a:ext cx="32004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532120" y="100584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 User Choice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03720" y="1307592"/>
            <a:ext cx="32004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223760" y="100584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Validate Input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06640" y="1600200"/>
            <a:ext cx="0" cy="50292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766560" y="210312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 Operation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 flipH="1">
            <a:off x="6446520" y="2404872"/>
            <a:ext cx="32004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074920" y="210312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Execute Module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 flipH="1">
            <a:off x="4754880" y="2404872"/>
            <a:ext cx="32004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383280" y="210312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Linux/POSIX Operation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 flipH="1">
            <a:off x="3063240" y="2404872"/>
            <a:ext cx="32004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691640" y="210312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Display Result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 flipH="1">
            <a:off x="1371600" y="2404872"/>
            <a:ext cx="32004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0" y="210312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Press Enter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43000" y="2697480"/>
            <a:ext cx="0" cy="45720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57200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Return to Menu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143000" y="3520440"/>
            <a:ext cx="0" cy="27432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48640" y="3794760"/>
            <a:ext cx="1188720" cy="914400"/>
          </a:xfrm>
          <a:prstGeom prst="diamond">
            <a:avLst/>
          </a:prstGeom>
          <a:solidFill>
            <a:srgbClr val="F2F5FA"/>
          </a:solidFill>
          <a:ln w="19050">
            <a:solidFill>
              <a:srgbClr val="1F6F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Exit?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37360" y="4251960"/>
            <a:ext cx="45720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2194560" y="406908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0B2A5B"/>
          </a:solidFill>
          <a:ln w="12700">
            <a:solidFill>
              <a:srgbClr val="0B2A5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YES → END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0" y="4069080"/>
            <a:ext cx="4114800" cy="365760"/>
          </a:xfrm>
          <a:prstGeom prst="roundRect">
            <a:avLst>
              <a:gd name="adj" fmla="val 20000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→ back to Display Menu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Testing and Validation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Create File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0" y="100584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Create Folder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Delete File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160020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Delete Folder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Copy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219456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Move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Rename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278892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Search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Permissions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338328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Preview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Tree 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397764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Invalid Input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3840480" cy="3108960"/>
          </a:xfrm>
          <a:prstGeom prst="roundRect">
            <a:avLst>
              <a:gd name="adj" fmla="val 1471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005840"/>
            <a:ext cx="384048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07899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07899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07899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94960" y="1005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 invalid input</a:t>
            </a:r>
            <a:endParaRPr lang="en-US" sz="7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7187807-DB12-82F3-D584-38C0E3C85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34440"/>
            <a:ext cx="3810196" cy="286207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Results and Evaluation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097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FUNCTIONALITY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4630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File/directory operations execute correctly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097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CORRECTNESS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4630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Filesystem changes validated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097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USABILITY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4630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Fewer commands to remember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Unified interface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RELIABILITY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Invalid input handled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Missing files handled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Permission errors handled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283464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2F5F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PERFORMANCE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 response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Efficient multi-directory search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2834640"/>
            <a:ext cx="2651760" cy="1828800"/>
          </a:xfrm>
          <a:prstGeom prst="roundRect">
            <a:avLst>
              <a:gd name="adj" fmla="val 2500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2834640"/>
            <a:ext cx="265176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290779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290779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290779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0" y="2834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results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6144768" y="3127248"/>
            <a:ext cx="243230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AE2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Folder created successfully.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AE2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File copied successfully.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Invalid choice.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AE2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Search completed.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Contribution of FileMaster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FileMaster integrates practical Linux file and directory operations into one unified, beginner-friendly interface.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Traditional Linux CLI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Many commands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2350008"/>
            <a:ext cx="27432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60320" y="19202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FileMaster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unified menu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0" y="2350008"/>
            <a:ext cx="27432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663440" y="19202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POSIX APIs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open, read, rename...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92240" y="2350008"/>
            <a:ext cx="27432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766560" y="19202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Linux File System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Files and folders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1089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Unified file management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POSIX system-call integration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Recursive operations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Metadata and permissions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1089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 and visualization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Modular C architecture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Educational OSSP value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Planned future work – not implemented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CURRENT FILEMASTER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2377440"/>
            <a:ext cx="13716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874520" y="201168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2377440"/>
            <a:ext cx="13716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291840" y="201168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Advanced Search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2377440"/>
            <a:ext cx="13716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709160" y="201168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89320" y="2377440"/>
            <a:ext cx="13716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126480" y="201168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Multi-user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06640" y="2377440"/>
            <a:ext cx="13716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543800" y="201168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 w="12700">
            <a:solidFill>
              <a:srgbClr val="C9D6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Batch Operations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Graphical User Interface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Advanced Search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Filesystem Monitoring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Multi-user Support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Batch Operations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Improved File Editor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Additional filesystem features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Linux file management system built in 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Common operations in one menu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Menu-driven interface for beginners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Practical POSIX/Linux APIs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Search, metadata, permissions, preview, tree view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 OSSP concepts in practice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F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Modular base for future 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416055"/>
            <a:ext cx="3931920" cy="3790185"/>
          </a:xfrm>
          <a:prstGeom prst="roundRect">
            <a:avLst>
              <a:gd name="adj" fmla="val 1389"/>
            </a:avLst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421455"/>
            <a:ext cx="3931920" cy="22860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“Simple Interface. Practical Linux File Management.”</a:t>
            </a:r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472A81B-4344-0E5F-A1CE-1A4C914C8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665226"/>
            <a:ext cx="3931920" cy="354100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2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</a:t>
            </a:r>
            <a:endParaRPr lang="en-US" sz="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B0C209-5B8A-DA3D-8E4B-EEF8E8268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9012382" cy="458493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1371600" y="731520"/>
            <a:ext cx="6400800" cy="3474720"/>
          </a:xfrm>
          <a:prstGeom prst="round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</a:rPr>
              <a:t>x</a:t>
            </a:r>
            <a:endParaRPr lang="en-US" sz="1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731520"/>
            <a:ext cx="6400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2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1320</Words>
  <Application>Microsoft Office PowerPoint</Application>
  <PresentationFormat>On-screen Show (16:9)</PresentationFormat>
  <Paragraphs>472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Consolas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FileMaster: Linux File Management System</dc:title>
  <dc:subject>PptxGenJS Presentation</dc:subject>
  <dc:creator>Mallala Sri Charan</dc:creator>
  <cp:lastModifiedBy>Nikki Rao</cp:lastModifiedBy>
  <cp:revision>8</cp:revision>
  <dcterms:created xsi:type="dcterms:W3CDTF">2026-10-07T03:47:24Z</dcterms:created>
  <dcterms:modified xsi:type="dcterms:W3CDTF">2026-10-07T14:25:13Z</dcterms:modified>
</cp:coreProperties>
</file>